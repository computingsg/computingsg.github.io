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names the pain. Take 30 seconds and think of three times this week you wished an AI remembered something you'd told it before. That frustration is what we're fixing.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Andrej Karpathy described this pattern in a 2025 gist. The key insight: humans abandon wikis because the bookkeeping burden outgrows the value. LLMs don't get bored. They'll touch fifteen files in one pass to update a cross-reference, and they don't mind. Maintenance cost → near zero. So the wiki actually stays maintained.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toy. Real public figures use this exact architecture. The composition you'll learn today is the durable skill — the specific tools (nanobot, OpenRouter, Telegram) will be obsolete in 18 months; the pattern won't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boxes. Your phone (Telegram), your machine (nanobot gateway, the wiki, the rules), and the LLM — which can be either cloud (OpenRouter) or local (Ollama running on your same machine). Both are supported as equal paths in this workshop. The wiki and rules NEVER leave your machine regardless of which LLM path you choose. With cloud, only the prompts themselves are sent out — same as ChatGPT. With local, nothing leaves your machine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paths reach the same finish line. Local is genuinely usable even on a Pi after the worksheet's Path B Step B.3 (which raises nanobot's default 120s LLM timeout — GitHub issue #3455). The trade-off is reply speed, not whether it works. Pick the path that matches your priorities: cloud for speed and ease, local for privacy/offline/no API costs. A Pi user who values privacy should go local without apology; a Pi user who just wants to feel the workflow fast should go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finish line. A bot on your phone that you feed sources, that organizes those sources into a structured wiki on your machine, that answers questions citing what you taught it. The 'AI' is in the cloud; the intelligence about your topic is on your machine. Take a moment to picture this working — that's what we're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activity has explicit checkpoints in the worksheet (✅ marks). When you hit a checkpoint, stop and verify before moving on. The checkpoints are designed so that if you've passed checkpoint N, you can recover from any disaster in checkpoint N+1 without redoing earlier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and decide now — picking both creates confusion. You can switch later by editing two lines in config.json. Pi users: both paths work for you. If you don't know which you want, ask yourself: do I care more about quick replies, or about my data staying on my device? No wrong answer — the workshop is identical from Activity 3 onward. The worksheet's Activity 2 has both paths laid out side by side; just follow the column you picked.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worksheet to Activity 1 now. Follow the commands there. Don't skim — the prerequisite check (Python version, RAM, disk) takes 30 seconds and saves an hour of debugging. Come back to the deck when you hit the ✅ Checkpoint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is one thing — an inference engine. Nanobot is doing much more: routing messages, maintaining memory, calling tools, managing the conversation. Even if you skip Ollama (cloud path), nanobot is still the brain of the operation. After this activity you'll have both installed but nothing connected yet — that's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 B has three substeps, each one a one-time fix that solves a real Pi failure mode: (1) Ollama's default 4096-token context is smaller than nanobot's ~6500-token system prompt → garbled replies. (2) You need the *right model* for your RAM. (3) Nanobot's default 120s LLM timeout is too short for Pi-class generation. The worksheet's B.1/B.2/B.3 solve all three before you hit them — together they make local Ollama a reliable path, not a workaround. Don't skip any; each addresses a real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general lesson, not just for this workshop: always test each layer of the stack independently before debugging composite systems. The worksheet shows you the exact curl command for cloud and the `ollama run` for local. Run it. Confirm it works.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Telegram bots are public by default. Without allowFrom, anyone who finds your bot's username can chat with it — they'd be using your OpenRouter quota or your Pi's CPU to answer their questions. This is the single most-important security setting in the workshop. Don't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run nanobot gateway, that terminal is consumed by the gateway. Open a second terminal for everything else. Later, set it up as a systemd service so it survives reboots and you don't need a terminal open at all. The worksheet has the systemd snippet — it's 6 lines of config.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Read this slide twice. The previous activities were setup; this one is where your bot transforms from a generic chatbot into your wiki maintainer. The whole quality of your second brain comes from this one file: AGENTS.md. Don't rush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loose schema like 'answer from the wiki when possible' will be ignored by smaller free-tier models — they'll fall back to training data. The schema in the worksheet uses MANDATORY, EXCLUSIVELY, NEVER, plus a worked example showing both correct and incorrect behaviour. This makes even smaller models comply consistently. Imitate the pattern; just swap the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try in this activity: ingest a source, query something in it, then ask about a CONCEPT from the source you didn't directly query. The third test is the magic moment — that's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workshop's moment of clarity. Until now, you've been configuring; now you're watching a curated knowledge base grow in real time, written by the AI according to your rules. The file is just markdown — open it in any editor and read every word the AI wrote. Note the Quotes line — that's the schema's audit trail. Verbatim phrases from the source, so months later you can verify what the AI wrote vs. what the source actually said. PDF drag-drop also works (Telegram channel extracts text at ingest time) — see worksheet Activity 5.6 for the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is what makes the wiki sustainable long-term. The AI catches its own messes when you ask. You approve fixes — it doesn't apply them silently. Schedule a daily lint and your wiki stays clean forever, with zero work from you. This is the difference between 'AI tool' and 'AI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this on day one. But once your wiki gets bigger (~50+ sources), you'll notice the single agent gets slow because every operation re-reads the whole MEMORY.md. Sub-agents let you parallelize — and let different operations use different models (cheap fast model for ingest, smart slow model for synthesis). The worksheet has the config skeleton.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1-day projects each. Do them at your own pace. The first two are quick wins; the MCP integrations are where it gets genuinely powerful — your bot can now read your email, check your calendar, summarize PDFs in your Drive, all funneled into the same wiki.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quotes land in the same place: today's tools are scaffolding. The skill of composing them — picking the right LLM, the right glue, the right schema — is what scales. You just demonstrated that skill end-to-end. Now go do it on a topic that actually matters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Bookmark the nanobot wiki and the MCP server directory; those two are the most actively-updated and most useful long-term. The Karpathy gist is short — read it once after the workshop and the whole pattern will lock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worksheet's running example is AI fluency. Your real second brain is whatever you genuinely care about and have sources for — hobby, work project, learning goal, family knowledge, your craft. Don't ask the bot to be a Wikipedia replacement — ask it to be a structured memory for one specific thing you care about. Start narrow. Let it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457200" y="457200"/>
            <a:ext cx="164592" cy="164592"/>
          </a:xfrm>
          <a:prstGeom prst="rect">
            <a:avLst/>
          </a:prstGeom>
          <a:solidFill>
            <a:srgbClr val="0D9488"/>
          </a:solidFill>
          <a:ln w="12700">
            <a:solidFill>
              <a:srgbClr val="0D9488"/>
            </a:solidFill>
            <a:prstDash val="solid"/>
          </a:ln>
        </p:spPr>
      </p:sp>
      <p:sp>
        <p:nvSpPr>
          <p:cNvPr id="3" name="Text 1"/>
          <p:cNvSpPr/>
          <p:nvPr/>
        </p:nvSpPr>
        <p:spPr>
          <a:xfrm>
            <a:off x="713232" y="420624"/>
            <a:ext cx="3657600" cy="274320"/>
          </a:xfrm>
          <a:prstGeom prst="rect">
            <a:avLst/>
          </a:prstGeom>
          <a:noFill/>
          <a:ln/>
        </p:spPr>
        <p:txBody>
          <a:bodyPr wrap="square" lIns="0" tIns="0" rIns="0" bIns="0" rtlCol="0" anchor="ctr"/>
          <a:lstStyle/>
          <a:p>
            <a:pPr indent="0" marL="0">
              <a:buNone/>
            </a:pPr>
            <a:r>
              <a:rPr lang="en-US" sz="1100" b="1" spc="600" kern="0" dirty="0">
                <a:solidFill>
                  <a:srgbClr val="14B8A6"/>
                </a:solidFill>
                <a:latin typeface="Calibri" pitchFamily="34" charset="0"/>
                <a:ea typeface="Calibri" pitchFamily="34" charset="-122"/>
                <a:cs typeface="Calibri" pitchFamily="34" charset="-120"/>
              </a:rPr>
              <a:t>WORKSHOP</a:t>
            </a:r>
            <a:endParaRPr lang="en-US" sz="1100" dirty="0"/>
          </a:p>
        </p:txBody>
      </p:sp>
      <p:sp>
        <p:nvSpPr>
          <p:cNvPr id="4" name="Text 2"/>
          <p:cNvSpPr/>
          <p:nvPr/>
        </p:nvSpPr>
        <p:spPr>
          <a:xfrm>
            <a:off x="457200" y="1554480"/>
            <a:ext cx="8229600" cy="822960"/>
          </a:xfrm>
          <a:prstGeom prst="rect">
            <a:avLst/>
          </a:prstGeom>
          <a:noFill/>
          <a:ln/>
        </p:spPr>
        <p:txBody>
          <a:bodyPr wrap="square" lIns="0" tIns="0" rIns="0" bIns="0" rtlCol="0" anchor="ctr"/>
          <a:lstStyle/>
          <a:p>
            <a:pPr indent="0" marL="0">
              <a:buNone/>
            </a:pPr>
            <a:r>
              <a:rPr lang="en-US" sz="4800" b="1" dirty="0">
                <a:solidFill>
                  <a:srgbClr val="F1F5F9"/>
                </a:solidFill>
                <a:latin typeface="Cambria" pitchFamily="34" charset="0"/>
                <a:ea typeface="Cambria" pitchFamily="34" charset="-122"/>
                <a:cs typeface="Cambria" pitchFamily="34" charset="-120"/>
              </a:rPr>
              <a:t>Build Your Own</a:t>
            </a:r>
            <a:endParaRPr lang="en-US" sz="4800" dirty="0"/>
          </a:p>
        </p:txBody>
      </p:sp>
      <p:sp>
        <p:nvSpPr>
          <p:cNvPr id="5" name="Text 3"/>
          <p:cNvSpPr/>
          <p:nvPr/>
        </p:nvSpPr>
        <p:spPr>
          <a:xfrm>
            <a:off x="457200" y="2331720"/>
            <a:ext cx="8229600" cy="822960"/>
          </a:xfrm>
          <a:prstGeom prst="rect">
            <a:avLst/>
          </a:prstGeom>
          <a:noFill/>
          <a:ln/>
        </p:spPr>
        <p:txBody>
          <a:bodyPr wrap="square" lIns="0" tIns="0" rIns="0" bIns="0" rtlCol="0" anchor="ctr"/>
          <a:lstStyle/>
          <a:p>
            <a:pPr indent="0" marL="0">
              <a:buNone/>
            </a:pPr>
            <a:r>
              <a:rPr lang="en-US" sz="4800" i="1" dirty="0">
                <a:solidFill>
                  <a:srgbClr val="14B8A6"/>
                </a:solidFill>
                <a:latin typeface="Cambria" pitchFamily="34" charset="0"/>
                <a:ea typeface="Cambria" pitchFamily="34" charset="-122"/>
                <a:cs typeface="Cambria" pitchFamily="34" charset="-120"/>
              </a:rPr>
              <a:t>Second Brain.</a:t>
            </a:r>
            <a:endParaRPr lang="en-US" sz="4800" dirty="0"/>
          </a:p>
        </p:txBody>
      </p:sp>
      <p:sp>
        <p:nvSpPr>
          <p:cNvPr id="6" name="Text 4"/>
          <p:cNvSpPr/>
          <p:nvPr/>
        </p:nvSpPr>
        <p:spPr>
          <a:xfrm>
            <a:off x="457200" y="3246120"/>
            <a:ext cx="8229600" cy="36576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Nanobot + Telegram, on hardware you already own</a:t>
            </a:r>
            <a:endParaRPr lang="en-US" sz="1600" dirty="0"/>
          </a:p>
        </p:txBody>
      </p:sp>
      <p:sp>
        <p:nvSpPr>
          <p:cNvPr id="7" name="Text 5"/>
          <p:cNvSpPr/>
          <p:nvPr/>
        </p:nvSpPr>
        <p:spPr>
          <a:xfrm>
            <a:off x="457200" y="4389120"/>
            <a:ext cx="82296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Self-paced · ~90 min · </a:t>
            </a:r>
            <a:pPr indent="0" marL="0">
              <a:buNone/>
            </a:pPr>
            <a:r>
              <a:rPr lang="en-US" sz="1200" dirty="0">
                <a:solidFill>
                  <a:srgbClr val="94A3B8"/>
                </a:solidFill>
                <a:latin typeface="Calibri" pitchFamily="34" charset="0"/>
                <a:ea typeface="Calibri" pitchFamily="34" charset="-122"/>
                <a:cs typeface="Calibri" pitchFamily="34" charset="-120"/>
              </a:rPr>
              <a:t>Companion: </a:t>
            </a:r>
            <a:pPr indent="0" marL="0">
              <a:buNone/>
            </a:pPr>
            <a:r>
              <a:rPr lang="en-US" sz="1200" dirty="0">
                <a:solidFill>
                  <a:srgbClr val="14B8A6"/>
                </a:solidFill>
                <a:latin typeface="Consolas" pitchFamily="34" charset="0"/>
                <a:ea typeface="Consolas" pitchFamily="34" charset="-122"/>
                <a:cs typeface="Consolas" pitchFamily="34" charset="-120"/>
              </a:rPr>
              <a:t>workshop_worksheet.md</a:t>
            </a:r>
            <a:endParaRPr lang="en-US" sz="1200" dirty="0"/>
          </a:p>
        </p:txBody>
      </p:sp>
      <p:sp>
        <p:nvSpPr>
          <p:cNvPr id="8" name="Shape 6"/>
          <p:cNvSpPr/>
          <p:nvPr/>
        </p:nvSpPr>
        <p:spPr>
          <a:xfrm>
            <a:off x="457200" y="4864608"/>
            <a:ext cx="91440" cy="91440"/>
          </a:xfrm>
          <a:prstGeom prst="rect">
            <a:avLst/>
          </a:prstGeom>
          <a:solidFill>
            <a:srgbClr val="0D9488"/>
          </a:solidFill>
          <a:ln w="12700">
            <a:solidFill>
              <a:srgbClr val="0D9488"/>
            </a:solidFill>
            <a:prstDash val="solid"/>
          </a:ln>
        </p:spPr>
      </p:sp>
      <p:sp>
        <p:nvSpPr>
          <p:cNvPr id="9" name="Text 7"/>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0" name="Text 8"/>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 / 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THE PROBLEM</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Vanilla LLMs forget. Constantly.</a:t>
            </a:r>
            <a:endParaRPr lang="en-US" sz="3200" dirty="0"/>
          </a:p>
        </p:txBody>
      </p:sp>
      <p:sp>
        <p:nvSpPr>
          <p:cNvPr id="4" name="Shape 2"/>
          <p:cNvSpPr/>
          <p:nvPr/>
        </p:nvSpPr>
        <p:spPr>
          <a:xfrm>
            <a:off x="457200" y="1417320"/>
            <a:ext cx="640080" cy="640080"/>
          </a:xfrm>
          <a:prstGeom prst="rect">
            <a:avLst/>
          </a:prstGeom>
          <a:solidFill>
            <a:srgbClr val="CCFBF1"/>
          </a:solidFill>
          <a:ln w="12700">
            <a:solidFill>
              <a:srgbClr val="CCFBF1"/>
            </a:solidFill>
            <a:prstDash val="solid"/>
          </a:ln>
        </p:spPr>
      </p:sp>
      <p:sp>
        <p:nvSpPr>
          <p:cNvPr id="5" name="Text 3"/>
          <p:cNvSpPr/>
          <p:nvPr/>
        </p:nvSpPr>
        <p:spPr>
          <a:xfrm>
            <a:off x="457200" y="1417320"/>
            <a:ext cx="640080" cy="640080"/>
          </a:xfrm>
          <a:prstGeom prst="rect">
            <a:avLst/>
          </a:prstGeom>
          <a:noFill/>
          <a:ln/>
        </p:spPr>
        <p:txBody>
          <a:bodyPr wrap="square" lIns="0" tIns="0" rIns="0" bIns="0" rtlCol="0" anchor="ctr"/>
          <a:lstStyle/>
          <a:p>
            <a:pPr algn="ctr" indent="0" marL="0">
              <a:buNone/>
            </a:pPr>
            <a:r>
              <a:rPr lang="en-US" sz="2800" dirty="0">
                <a:solidFill>
                  <a:srgbClr val="0D9488"/>
                </a:solidFill>
                <a:latin typeface="Calibri" pitchFamily="34" charset="0"/>
                <a:ea typeface="Calibri" pitchFamily="34" charset="-122"/>
                <a:cs typeface="Calibri" pitchFamily="34" charset="-120"/>
              </a:rPr>
              <a:t>↺</a:t>
            </a:r>
            <a:endParaRPr lang="en-US" sz="2800" dirty="0"/>
          </a:p>
        </p:txBody>
      </p:sp>
      <p:sp>
        <p:nvSpPr>
          <p:cNvPr id="6" name="Text 4"/>
          <p:cNvSpPr/>
          <p:nvPr/>
        </p:nvSpPr>
        <p:spPr>
          <a:xfrm>
            <a:off x="1280160" y="1435608"/>
            <a:ext cx="7315200" cy="329184"/>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No memory between sessions</a:t>
            </a:r>
            <a:endParaRPr lang="en-US" sz="1800" dirty="0"/>
          </a:p>
        </p:txBody>
      </p:sp>
      <p:sp>
        <p:nvSpPr>
          <p:cNvPr id="7" name="Text 5"/>
          <p:cNvSpPr/>
          <p:nvPr/>
        </p:nvSpPr>
        <p:spPr>
          <a:xfrm>
            <a:off x="1280160" y="1783080"/>
            <a:ext cx="73152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Every conversation starts from zero. Yesterday's context is gone.</a:t>
            </a:r>
            <a:endParaRPr lang="en-US" sz="1300" dirty="0"/>
          </a:p>
        </p:txBody>
      </p:sp>
      <p:sp>
        <p:nvSpPr>
          <p:cNvPr id="8" name="Shape 6"/>
          <p:cNvSpPr/>
          <p:nvPr/>
        </p:nvSpPr>
        <p:spPr>
          <a:xfrm>
            <a:off x="457200" y="2377440"/>
            <a:ext cx="640080" cy="640080"/>
          </a:xfrm>
          <a:prstGeom prst="rect">
            <a:avLst/>
          </a:prstGeom>
          <a:solidFill>
            <a:srgbClr val="CCFBF1"/>
          </a:solidFill>
          <a:ln w="12700">
            <a:solidFill>
              <a:srgbClr val="CCFBF1"/>
            </a:solidFill>
            <a:prstDash val="solid"/>
          </a:ln>
        </p:spPr>
      </p:sp>
      <p:sp>
        <p:nvSpPr>
          <p:cNvPr id="9" name="Text 7"/>
          <p:cNvSpPr/>
          <p:nvPr/>
        </p:nvSpPr>
        <p:spPr>
          <a:xfrm>
            <a:off x="457200" y="2377440"/>
            <a:ext cx="640080" cy="640080"/>
          </a:xfrm>
          <a:prstGeom prst="rect">
            <a:avLst/>
          </a:prstGeom>
          <a:noFill/>
          <a:ln/>
        </p:spPr>
        <p:txBody>
          <a:bodyPr wrap="square" lIns="0" tIns="0" rIns="0" bIns="0" rtlCol="0" anchor="ctr"/>
          <a:lstStyle/>
          <a:p>
            <a:pPr algn="ctr" indent="0" marL="0">
              <a:buNone/>
            </a:pPr>
            <a:r>
              <a:rPr lang="en-US" sz="2800" dirty="0">
                <a:solidFill>
                  <a:srgbClr val="0D9488"/>
                </a:solidFill>
                <a:latin typeface="Calibri" pitchFamily="34" charset="0"/>
                <a:ea typeface="Calibri" pitchFamily="34" charset="-122"/>
                <a:cs typeface="Calibri" pitchFamily="34" charset="-120"/>
              </a:rPr>
              <a:t>⤴</a:t>
            </a:r>
            <a:endParaRPr lang="en-US" sz="2800" dirty="0"/>
          </a:p>
        </p:txBody>
      </p:sp>
      <p:sp>
        <p:nvSpPr>
          <p:cNvPr id="10" name="Text 8"/>
          <p:cNvSpPr/>
          <p:nvPr/>
        </p:nvSpPr>
        <p:spPr>
          <a:xfrm>
            <a:off x="1280160" y="2395728"/>
            <a:ext cx="7315200" cy="329184"/>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RAG re-derives, never accumulates</a:t>
            </a:r>
            <a:endParaRPr lang="en-US" sz="1800" dirty="0"/>
          </a:p>
        </p:txBody>
      </p:sp>
      <p:sp>
        <p:nvSpPr>
          <p:cNvPr id="11" name="Text 9"/>
          <p:cNvSpPr/>
          <p:nvPr/>
        </p:nvSpPr>
        <p:spPr>
          <a:xfrm>
            <a:off x="1280160" y="2743200"/>
            <a:ext cx="73152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Retrieval pulls the same docs over and over. Nothing is curated, nothing compounds.</a:t>
            </a:r>
            <a:endParaRPr lang="en-US" sz="1300" dirty="0"/>
          </a:p>
        </p:txBody>
      </p:sp>
      <p:sp>
        <p:nvSpPr>
          <p:cNvPr id="12" name="Shape 10"/>
          <p:cNvSpPr/>
          <p:nvPr/>
        </p:nvSpPr>
        <p:spPr>
          <a:xfrm>
            <a:off x="457200" y="3337560"/>
            <a:ext cx="640080" cy="640080"/>
          </a:xfrm>
          <a:prstGeom prst="rect">
            <a:avLst/>
          </a:prstGeom>
          <a:solidFill>
            <a:srgbClr val="CCFBF1"/>
          </a:solidFill>
          <a:ln w="12700">
            <a:solidFill>
              <a:srgbClr val="CCFBF1"/>
            </a:solidFill>
            <a:prstDash val="solid"/>
          </a:ln>
        </p:spPr>
      </p:sp>
      <p:sp>
        <p:nvSpPr>
          <p:cNvPr id="13" name="Text 11"/>
          <p:cNvSpPr/>
          <p:nvPr/>
        </p:nvSpPr>
        <p:spPr>
          <a:xfrm>
            <a:off x="457200" y="3337560"/>
            <a:ext cx="640080" cy="640080"/>
          </a:xfrm>
          <a:prstGeom prst="rect">
            <a:avLst/>
          </a:prstGeom>
          <a:noFill/>
          <a:ln/>
        </p:spPr>
        <p:txBody>
          <a:bodyPr wrap="square" lIns="0" tIns="0" rIns="0" bIns="0" rtlCol="0" anchor="ctr"/>
          <a:lstStyle/>
          <a:p>
            <a:pPr algn="ctr" indent="0" marL="0">
              <a:buNone/>
            </a:pPr>
            <a:r>
              <a:rPr lang="en-US" sz="2800" dirty="0">
                <a:solidFill>
                  <a:srgbClr val="0D9488"/>
                </a:solidFill>
                <a:latin typeface="Calibri" pitchFamily="34" charset="0"/>
                <a:ea typeface="Calibri" pitchFamily="34" charset="-122"/>
                <a:cs typeface="Calibri" pitchFamily="34" charset="-120"/>
              </a:rPr>
              <a:t>🤦</a:t>
            </a:r>
            <a:endParaRPr lang="en-US" sz="2800" dirty="0"/>
          </a:p>
        </p:txBody>
      </p:sp>
      <p:sp>
        <p:nvSpPr>
          <p:cNvPr id="14" name="Text 12"/>
          <p:cNvSpPr/>
          <p:nvPr/>
        </p:nvSpPr>
        <p:spPr>
          <a:xfrm>
            <a:off x="1280160" y="3355848"/>
            <a:ext cx="7315200" cy="329184"/>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You re-explain yourself, weekly</a:t>
            </a:r>
            <a:endParaRPr lang="en-US" sz="1800" dirty="0"/>
          </a:p>
        </p:txBody>
      </p:sp>
      <p:sp>
        <p:nvSpPr>
          <p:cNvPr id="15" name="Text 13"/>
          <p:cNvSpPr/>
          <p:nvPr/>
        </p:nvSpPr>
        <p:spPr>
          <a:xfrm>
            <a:off x="1280160" y="3703320"/>
            <a:ext cx="731520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Same questions, same Googling, same context-pasting. Forever.</a:t>
            </a:r>
            <a:endParaRPr lang="en-US" sz="1300" dirty="0"/>
          </a:p>
        </p:txBody>
      </p:sp>
      <p:sp>
        <p:nvSpPr>
          <p:cNvPr id="16" name="Text 14"/>
          <p:cNvSpPr/>
          <p:nvPr/>
        </p:nvSpPr>
        <p:spPr>
          <a:xfrm>
            <a:off x="457200" y="4480560"/>
            <a:ext cx="822960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That frustration is what we're fixing today.</a:t>
            </a:r>
            <a:endParaRPr lang="en-US" sz="1300" dirty="0"/>
          </a:p>
        </p:txBody>
      </p:sp>
      <p:sp>
        <p:nvSpPr>
          <p:cNvPr id="18" name="Shape 15"/>
          <p:cNvSpPr/>
          <p:nvPr/>
        </p:nvSpPr>
        <p:spPr>
          <a:xfrm>
            <a:off x="457200" y="4864608"/>
            <a:ext cx="91440" cy="91440"/>
          </a:xfrm>
          <a:prstGeom prst="rect">
            <a:avLst/>
          </a:prstGeom>
          <a:solidFill>
            <a:srgbClr val="0D9488"/>
          </a:solidFill>
          <a:ln w="12700">
            <a:solidFill>
              <a:srgbClr val="0D9488"/>
            </a:solidFill>
            <a:prstDash val="solid"/>
          </a:ln>
        </p:spPr>
      </p:sp>
      <p:sp>
        <p:nvSpPr>
          <p:cNvPr id="19" name="Text 16"/>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0" name="Text 17"/>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25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THE PATTERN</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The LLM Wiki Pattern (Karpathy)</a:t>
            </a:r>
            <a:endParaRPr lang="en-US" sz="3200" dirty="0"/>
          </a:p>
        </p:txBody>
      </p:sp>
      <p:sp>
        <p:nvSpPr>
          <p:cNvPr id="4" name="Shape 2"/>
          <p:cNvSpPr/>
          <p:nvPr/>
        </p:nvSpPr>
        <p:spPr>
          <a:xfrm>
            <a:off x="548640" y="2194560"/>
            <a:ext cx="1371600" cy="822960"/>
          </a:xfrm>
          <a:prstGeom prst="rect">
            <a:avLst/>
          </a:prstGeom>
          <a:solidFill>
            <a:srgbClr val="FFFFFF"/>
          </a:solidFill>
          <a:ln w="25400">
            <a:solidFill>
              <a:srgbClr val="1E293B"/>
            </a:solidFill>
            <a:prstDash val="solid"/>
          </a:ln>
        </p:spPr>
      </p:sp>
      <p:sp>
        <p:nvSpPr>
          <p:cNvPr id="5" name="Text 3"/>
          <p:cNvSpPr/>
          <p:nvPr/>
        </p:nvSpPr>
        <p:spPr>
          <a:xfrm>
            <a:off x="548640" y="2194560"/>
            <a:ext cx="1371600" cy="822960"/>
          </a:xfrm>
          <a:prstGeom prst="rect">
            <a:avLst/>
          </a:prstGeom>
          <a:noFill/>
          <a:ln/>
        </p:spPr>
        <p:txBody>
          <a:bodyPr wrap="square" lIns="0" tIns="0" rIns="0" bIns="0" rtlCol="0" anchor="ctr"/>
          <a:lstStyle/>
          <a:p>
            <a:pPr algn="ctr" indent="0" marL="0">
              <a:buNone/>
            </a:pPr>
            <a:r>
              <a:rPr lang="en-US" sz="1600" b="1" dirty="0">
                <a:solidFill>
                  <a:srgbClr val="1E293B"/>
                </a:solidFill>
                <a:latin typeface="Cambria" pitchFamily="34" charset="0"/>
                <a:ea typeface="Cambria" pitchFamily="34" charset="-122"/>
                <a:cs typeface="Cambria" pitchFamily="34" charset="-120"/>
              </a:rPr>
              <a:t>YOU</a:t>
            </a:r>
            <a:endParaRPr lang="en-US" sz="1600" dirty="0"/>
          </a:p>
        </p:txBody>
      </p:sp>
      <p:sp>
        <p:nvSpPr>
          <p:cNvPr id="6" name="Shape 4"/>
          <p:cNvSpPr/>
          <p:nvPr/>
        </p:nvSpPr>
        <p:spPr>
          <a:xfrm>
            <a:off x="1965960" y="2606040"/>
            <a:ext cx="1188720" cy="0"/>
          </a:xfrm>
          <a:prstGeom prst="line">
            <a:avLst/>
          </a:prstGeom>
          <a:noFill/>
          <a:ln w="25400">
            <a:solidFill>
              <a:srgbClr val="1E293B"/>
            </a:solidFill>
            <a:prstDash val="solid"/>
            <a:tailEnd type="triangle"/>
          </a:ln>
        </p:spPr>
      </p:sp>
      <p:sp>
        <p:nvSpPr>
          <p:cNvPr id="7" name="Text 5"/>
          <p:cNvSpPr/>
          <p:nvPr/>
        </p:nvSpPr>
        <p:spPr>
          <a:xfrm>
            <a:off x="1965960" y="1874520"/>
            <a:ext cx="1188720" cy="54864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pastes</a:t>
            </a:r>
            <a:endParaRPr lang="en-US" sz="900" dirty="0"/>
          </a:p>
          <a:p>
            <a:pPr algn="ctr" indent="0" marL="0">
              <a:buNone/>
            </a:pPr>
            <a:r>
              <a:rPr lang="en-US" sz="900" i="1" dirty="0">
                <a:solidFill>
                  <a:srgbClr val="64748B"/>
                </a:solidFill>
                <a:latin typeface="Calibri" pitchFamily="34" charset="0"/>
                <a:ea typeface="Calibri" pitchFamily="34" charset="-122"/>
                <a:cs typeface="Calibri" pitchFamily="34" charset="-120"/>
              </a:rPr>
              <a:t>sources</a:t>
            </a:r>
            <a:endParaRPr lang="en-US" sz="900" dirty="0"/>
          </a:p>
        </p:txBody>
      </p:sp>
      <p:sp>
        <p:nvSpPr>
          <p:cNvPr id="8" name="Shape 6"/>
          <p:cNvSpPr/>
          <p:nvPr/>
        </p:nvSpPr>
        <p:spPr>
          <a:xfrm>
            <a:off x="3200400" y="2194560"/>
            <a:ext cx="1371600" cy="822960"/>
          </a:xfrm>
          <a:prstGeom prst="ellipse">
            <a:avLst/>
          </a:prstGeom>
          <a:solidFill>
            <a:srgbClr val="0D9488"/>
          </a:solidFill>
          <a:ln w="12700">
            <a:solidFill>
              <a:srgbClr val="0D9488"/>
            </a:solidFill>
            <a:prstDash val="solid"/>
          </a:ln>
        </p:spPr>
      </p:sp>
      <p:sp>
        <p:nvSpPr>
          <p:cNvPr id="9" name="Text 7"/>
          <p:cNvSpPr/>
          <p:nvPr/>
        </p:nvSpPr>
        <p:spPr>
          <a:xfrm>
            <a:off x="3200400" y="2194560"/>
            <a:ext cx="137160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LLM</a:t>
            </a:r>
            <a:endParaRPr lang="en-US" sz="1600" dirty="0"/>
          </a:p>
        </p:txBody>
      </p:sp>
      <p:sp>
        <p:nvSpPr>
          <p:cNvPr id="10" name="Shape 8"/>
          <p:cNvSpPr/>
          <p:nvPr/>
        </p:nvSpPr>
        <p:spPr>
          <a:xfrm>
            <a:off x="4617720" y="2606040"/>
            <a:ext cx="1188720" cy="0"/>
          </a:xfrm>
          <a:prstGeom prst="line">
            <a:avLst/>
          </a:prstGeom>
          <a:noFill/>
          <a:ln w="25400">
            <a:solidFill>
              <a:srgbClr val="0D9488"/>
            </a:solidFill>
            <a:prstDash val="solid"/>
            <a:tailEnd type="triangle"/>
          </a:ln>
        </p:spPr>
      </p:sp>
      <p:sp>
        <p:nvSpPr>
          <p:cNvPr id="11" name="Text 9"/>
          <p:cNvSpPr/>
          <p:nvPr/>
        </p:nvSpPr>
        <p:spPr>
          <a:xfrm>
            <a:off x="4617720" y="2240280"/>
            <a:ext cx="1188720" cy="274320"/>
          </a:xfrm>
          <a:prstGeom prst="rect">
            <a:avLst/>
          </a:prstGeom>
          <a:noFill/>
          <a:ln/>
        </p:spPr>
        <p:txBody>
          <a:bodyPr wrap="square" lIns="0" tIns="0" rIns="0" bIns="0" rtlCol="0" anchor="ctr"/>
          <a:lstStyle/>
          <a:p>
            <a:pPr algn="ctr" indent="0" marL="0">
              <a:buNone/>
            </a:pPr>
            <a:r>
              <a:rPr lang="en-US" sz="900" i="1" dirty="0">
                <a:solidFill>
                  <a:srgbClr val="0D9488"/>
                </a:solidFill>
                <a:latin typeface="Calibri" pitchFamily="34" charset="0"/>
                <a:ea typeface="Calibri" pitchFamily="34" charset="-122"/>
                <a:cs typeface="Calibri" pitchFamily="34" charset="-120"/>
              </a:rPr>
              <a:t>reads &amp; writes</a:t>
            </a:r>
            <a:endParaRPr lang="en-US" sz="900" dirty="0"/>
          </a:p>
        </p:txBody>
      </p:sp>
      <p:sp>
        <p:nvSpPr>
          <p:cNvPr id="12" name="Shape 10"/>
          <p:cNvSpPr/>
          <p:nvPr/>
        </p:nvSpPr>
        <p:spPr>
          <a:xfrm>
            <a:off x="5852160" y="2148840"/>
            <a:ext cx="1554480" cy="914400"/>
          </a:xfrm>
          <a:prstGeom prst="rect">
            <a:avLst/>
          </a:prstGeom>
          <a:solidFill>
            <a:srgbClr val="CCFBF1"/>
          </a:solidFill>
          <a:ln w="25400">
            <a:solidFill>
              <a:srgbClr val="0D9488"/>
            </a:solidFill>
            <a:prstDash val="solid"/>
          </a:ln>
        </p:spPr>
      </p:sp>
      <p:sp>
        <p:nvSpPr>
          <p:cNvPr id="13" name="Text 11"/>
          <p:cNvSpPr/>
          <p:nvPr/>
        </p:nvSpPr>
        <p:spPr>
          <a:xfrm>
            <a:off x="5852160" y="2212848"/>
            <a:ext cx="1554480" cy="365760"/>
          </a:xfrm>
          <a:prstGeom prst="rect">
            <a:avLst/>
          </a:prstGeom>
          <a:noFill/>
          <a:ln/>
        </p:spPr>
        <p:txBody>
          <a:bodyPr wrap="square" lIns="0" tIns="0" rIns="0" bIns="0" rtlCol="0" anchor="ctr"/>
          <a:lstStyle/>
          <a:p>
            <a:pPr algn="ctr" indent="0" marL="0">
              <a:buNone/>
            </a:pPr>
            <a:r>
              <a:rPr lang="en-US" sz="1400" b="1" dirty="0">
                <a:solidFill>
                  <a:srgbClr val="1E293B"/>
                </a:solidFill>
                <a:latin typeface="Cambria" pitchFamily="34" charset="0"/>
                <a:ea typeface="Cambria" pitchFamily="34" charset="-122"/>
                <a:cs typeface="Cambria" pitchFamily="34" charset="-120"/>
              </a:rPr>
              <a:t>THE WIKI</a:t>
            </a:r>
            <a:endParaRPr lang="en-US" sz="1400" dirty="0"/>
          </a:p>
        </p:txBody>
      </p:sp>
      <p:sp>
        <p:nvSpPr>
          <p:cNvPr id="14" name="Text 12"/>
          <p:cNvSpPr/>
          <p:nvPr/>
        </p:nvSpPr>
        <p:spPr>
          <a:xfrm>
            <a:off x="5852160" y="2578608"/>
            <a:ext cx="155448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onsolas" pitchFamily="34" charset="0"/>
                <a:ea typeface="Consolas" pitchFamily="34" charset="-122"/>
                <a:cs typeface="Consolas" pitchFamily="34" charset="-120"/>
              </a:rPr>
              <a:t>MEMORY.md</a:t>
            </a:r>
            <a:endParaRPr lang="en-US" sz="1000" dirty="0"/>
          </a:p>
        </p:txBody>
      </p:sp>
      <p:sp>
        <p:nvSpPr>
          <p:cNvPr id="15" name="Shape 13"/>
          <p:cNvSpPr/>
          <p:nvPr/>
        </p:nvSpPr>
        <p:spPr>
          <a:xfrm>
            <a:off x="7498080" y="2286000"/>
            <a:ext cx="0" cy="731520"/>
          </a:xfrm>
          <a:prstGeom prst="line">
            <a:avLst/>
          </a:prstGeom>
          <a:noFill/>
          <a:ln w="25400">
            <a:solidFill>
              <a:srgbClr val="0D9488"/>
            </a:solidFill>
            <a:prstDash val="solid"/>
            <a:tailEnd type="triangle"/>
          </a:ln>
        </p:spPr>
      </p:sp>
      <p:sp>
        <p:nvSpPr>
          <p:cNvPr id="16" name="Text 14"/>
          <p:cNvSpPr/>
          <p:nvPr/>
        </p:nvSpPr>
        <p:spPr>
          <a:xfrm>
            <a:off x="7589520" y="2468880"/>
            <a:ext cx="1280160" cy="365760"/>
          </a:xfrm>
          <a:prstGeom prst="rect">
            <a:avLst/>
          </a:prstGeom>
          <a:noFill/>
          <a:ln/>
        </p:spPr>
        <p:txBody>
          <a:bodyPr wrap="square" lIns="0" tIns="0" rIns="0" bIns="0" rtlCol="0" anchor="ctr"/>
          <a:lstStyle/>
          <a:p>
            <a:pPr indent="0" marL="0">
              <a:buNone/>
            </a:pPr>
            <a:r>
              <a:rPr lang="en-US" sz="1100" b="1" i="1" dirty="0">
                <a:solidFill>
                  <a:srgbClr val="0D9488"/>
                </a:solidFill>
                <a:latin typeface="Calibri" pitchFamily="34" charset="0"/>
                <a:ea typeface="Calibri" pitchFamily="34" charset="-122"/>
                <a:cs typeface="Calibri" pitchFamily="34" charset="-120"/>
              </a:rPr>
              <a:t>compounds</a:t>
            </a:r>
            <a:endParaRPr lang="en-US" sz="1100" dirty="0"/>
          </a:p>
        </p:txBody>
      </p:sp>
      <p:sp>
        <p:nvSpPr>
          <p:cNvPr id="17" name="Text 15"/>
          <p:cNvSpPr/>
          <p:nvPr/>
        </p:nvSpPr>
        <p:spPr>
          <a:xfrm>
            <a:off x="457200" y="3520440"/>
            <a:ext cx="8229600" cy="36576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Same loop, different verb: you ask → LLM reads MEMORY.md → answers from what's there.</a:t>
            </a:r>
            <a:endParaRPr lang="en-US" sz="1200" dirty="0"/>
          </a:p>
        </p:txBody>
      </p:sp>
      <p:sp>
        <p:nvSpPr>
          <p:cNvPr id="18" name="Shape 16"/>
          <p:cNvSpPr/>
          <p:nvPr/>
        </p:nvSpPr>
        <p:spPr>
          <a:xfrm>
            <a:off x="457200" y="4023360"/>
            <a:ext cx="8229600" cy="594360"/>
          </a:xfrm>
          <a:prstGeom prst="rect">
            <a:avLst/>
          </a:prstGeom>
          <a:solidFill>
            <a:srgbClr val="F8FAFC"/>
          </a:solidFill>
          <a:ln w="12700">
            <a:solidFill>
              <a:srgbClr val="E2E8F0"/>
            </a:solidFill>
            <a:prstDash val="solid"/>
          </a:ln>
        </p:spPr>
      </p:sp>
      <p:sp>
        <p:nvSpPr>
          <p:cNvPr id="19" name="Text 17"/>
          <p:cNvSpPr/>
          <p:nvPr/>
        </p:nvSpPr>
        <p:spPr>
          <a:xfrm>
            <a:off x="685800" y="4023360"/>
            <a:ext cx="7772400" cy="59436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Humans abandon wikis because bookkeeping outgrows value. </a:t>
            </a:r>
            <a:pPr indent="0" marL="0">
              <a:buNone/>
            </a:pPr>
            <a:r>
              <a:rPr lang="en-US" sz="1200" b="1" i="1" dirty="0">
                <a:solidFill>
                  <a:srgbClr val="0D9488"/>
                </a:solidFill>
                <a:latin typeface="Calibri" pitchFamily="34" charset="0"/>
                <a:ea typeface="Calibri" pitchFamily="34" charset="-122"/>
                <a:cs typeface="Calibri" pitchFamily="34" charset="-120"/>
              </a:rPr>
              <a:t>LLMs don't get bored.</a:t>
            </a:r>
            <a:endParaRPr lang="en-US" sz="1200" dirty="0"/>
          </a:p>
        </p:txBody>
      </p:sp>
      <p:sp>
        <p:nvSpPr>
          <p:cNvPr id="21" name="Shape 18"/>
          <p:cNvSpPr/>
          <p:nvPr/>
        </p:nvSpPr>
        <p:spPr>
          <a:xfrm>
            <a:off x="457200" y="4864608"/>
            <a:ext cx="91440" cy="91440"/>
          </a:xfrm>
          <a:prstGeom prst="rect">
            <a:avLst/>
          </a:prstGeom>
          <a:solidFill>
            <a:srgbClr val="0D9488"/>
          </a:solidFill>
          <a:ln w="12700">
            <a:solidFill>
              <a:srgbClr val="0D9488"/>
            </a:solidFill>
            <a:prstDash val="solid"/>
          </a:ln>
        </p:spPr>
      </p:sp>
      <p:sp>
        <p:nvSpPr>
          <p:cNvPr id="22" name="Text 19"/>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3" name="Text 2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25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REAL-WORLD REFERENCE</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This isn't a toy.</a:t>
            </a:r>
            <a:endParaRPr lang="en-US" sz="3200" dirty="0"/>
          </a:p>
        </p:txBody>
      </p:sp>
      <p:sp>
        <p:nvSpPr>
          <p:cNvPr id="4" name="Shape 2"/>
          <p:cNvSpPr/>
          <p:nvPr/>
        </p:nvSpPr>
        <p:spPr>
          <a:xfrm>
            <a:off x="457200" y="1508760"/>
            <a:ext cx="8229600" cy="1691640"/>
          </a:xfrm>
          <a:prstGeom prst="rect">
            <a:avLst/>
          </a:prstGeom>
          <a:solidFill>
            <a:srgbClr val="F8FAFC"/>
          </a:solidFill>
          <a:ln w="12700">
            <a:solidFill>
              <a:srgbClr val="F8FAFC"/>
            </a:solidFill>
            <a:prstDash val="solid"/>
          </a:ln>
        </p:spPr>
      </p:sp>
      <p:sp>
        <p:nvSpPr>
          <p:cNvPr id="5" name="Shape 3"/>
          <p:cNvSpPr/>
          <p:nvPr/>
        </p:nvSpPr>
        <p:spPr>
          <a:xfrm>
            <a:off x="457200" y="1508760"/>
            <a:ext cx="73152" cy="1691640"/>
          </a:xfrm>
          <a:prstGeom prst="rect">
            <a:avLst/>
          </a:prstGeom>
          <a:solidFill>
            <a:srgbClr val="0D9488"/>
          </a:solidFill>
          <a:ln w="12700">
            <a:solidFill>
              <a:srgbClr val="0D9488"/>
            </a:solidFill>
            <a:prstDash val="solid"/>
          </a:ln>
        </p:spPr>
      </p:sp>
      <p:sp>
        <p:nvSpPr>
          <p:cNvPr id="6" name="Text 4"/>
          <p:cNvSpPr/>
          <p:nvPr/>
        </p:nvSpPr>
        <p:spPr>
          <a:xfrm>
            <a:off x="777240" y="1645920"/>
            <a:ext cx="7772400" cy="1005840"/>
          </a:xfrm>
          <a:prstGeom prst="rect">
            <a:avLst/>
          </a:prstGeom>
          <a:noFill/>
          <a:ln/>
        </p:spPr>
        <p:txBody>
          <a:bodyPr wrap="square" lIns="0" tIns="0" rIns="0" bIns="0" rtlCol="0" anchor="ctr"/>
          <a:lstStyle/>
          <a:p>
            <a:pPr indent="0" marL="0">
              <a:buNone/>
            </a:pPr>
            <a:r>
              <a:rPr lang="en-US" sz="2000" i="1" dirty="0">
                <a:solidFill>
                  <a:srgbClr val="1E293B"/>
                </a:solidFill>
                <a:latin typeface="Cambria" pitchFamily="34" charset="0"/>
                <a:ea typeface="Cambria" pitchFamily="34" charset="-122"/>
                <a:cs typeface="Cambria" pitchFamily="34" charset="-120"/>
              </a:rPr>
              <a:t>"The diplomat who learns to work with AI will have a meaningful edge. I think that edge is now."</a:t>
            </a:r>
            <a:endParaRPr lang="en-US" sz="2000" dirty="0"/>
          </a:p>
        </p:txBody>
      </p:sp>
      <p:sp>
        <p:nvSpPr>
          <p:cNvPr id="7" name="Text 5"/>
          <p:cNvSpPr/>
          <p:nvPr/>
        </p:nvSpPr>
        <p:spPr>
          <a:xfrm>
            <a:off x="777240" y="2788920"/>
            <a:ext cx="77724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 Vivian Balakrishnan, Singapore Foreign Minister, April 2026</a:t>
            </a:r>
            <a:endParaRPr lang="en-US" sz="1200" dirty="0"/>
          </a:p>
        </p:txBody>
      </p:sp>
      <p:sp>
        <p:nvSpPr>
          <p:cNvPr id="8" name="Text 6"/>
          <p:cNvSpPr/>
          <p:nvPr/>
        </p:nvSpPr>
        <p:spPr>
          <a:xfrm>
            <a:off x="457200" y="3520440"/>
            <a:ext cx="8229600" cy="2743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His published setup:</a:t>
            </a:r>
            <a:endParaRPr lang="en-US" sz="1300" dirty="0"/>
          </a:p>
        </p:txBody>
      </p:sp>
      <p:sp>
        <p:nvSpPr>
          <p:cNvPr id="9" name="Text 7"/>
          <p:cNvSpPr/>
          <p:nvPr/>
        </p:nvSpPr>
        <p:spPr>
          <a:xfrm>
            <a:off x="457200" y="3840480"/>
            <a:ext cx="8229600" cy="365760"/>
          </a:xfrm>
          <a:prstGeom prst="rect">
            <a:avLst/>
          </a:prstGeom>
          <a:noFill/>
          <a:ln/>
        </p:spPr>
        <p:txBody>
          <a:bodyPr wrap="square" lIns="0" tIns="0" rIns="0" bIns="0" rtlCol="0" anchor="ctr"/>
          <a:lstStyle/>
          <a:p>
            <a:pPr indent="0" marL="0">
              <a:buNone/>
            </a:pPr>
            <a:r>
              <a:rPr lang="en-US" sz="1500" b="1" dirty="0">
                <a:solidFill>
                  <a:srgbClr val="0D9488"/>
                </a:solidFill>
                <a:latin typeface="Calibri" pitchFamily="34" charset="0"/>
                <a:ea typeface="Calibri" pitchFamily="34" charset="-122"/>
                <a:cs typeface="Calibri" pitchFamily="34" charset="-120"/>
              </a:rPr>
              <a:t>Claude (cloud)</a:t>
            </a:r>
            <a:pPr indent="0" marL="0">
              <a:buNone/>
            </a:pPr>
            <a:r>
              <a:rPr lang="en-US" sz="1500" dirty="0">
                <a:solidFill>
                  <a:srgbClr val="64748B"/>
                </a:solidFill>
                <a:latin typeface="Calibri" pitchFamily="34" charset="0"/>
                <a:ea typeface="Calibri" pitchFamily="34" charset="-122"/>
                <a:cs typeface="Calibri" pitchFamily="34" charset="-120"/>
              </a:rPr>
              <a:t> + </a:t>
            </a:r>
            <a:pPr indent="0" marL="0">
              <a:buNone/>
            </a:pPr>
            <a:r>
              <a:rPr lang="en-US" sz="1500" b="1" dirty="0">
                <a:solidFill>
                  <a:srgbClr val="0D9488"/>
                </a:solidFill>
                <a:latin typeface="Calibri" pitchFamily="34" charset="0"/>
                <a:ea typeface="Calibri" pitchFamily="34" charset="-122"/>
                <a:cs typeface="Calibri" pitchFamily="34" charset="-120"/>
              </a:rPr>
              <a:t>Raspberry Pi</a:t>
            </a:r>
            <a:pPr indent="0" marL="0">
              <a:buNone/>
            </a:pPr>
            <a:r>
              <a:rPr lang="en-US" sz="1500" dirty="0">
                <a:solidFill>
                  <a:srgbClr val="64748B"/>
                </a:solidFill>
                <a:latin typeface="Calibri" pitchFamily="34" charset="0"/>
                <a:ea typeface="Calibri" pitchFamily="34" charset="-122"/>
                <a:cs typeface="Calibri" pitchFamily="34" charset="-120"/>
              </a:rPr>
              <a:t> + </a:t>
            </a:r>
            <a:pPr indent="0" marL="0">
              <a:buNone/>
            </a:pPr>
            <a:r>
              <a:rPr lang="en-US" sz="1500" b="1" dirty="0">
                <a:solidFill>
                  <a:srgbClr val="0D9488"/>
                </a:solidFill>
                <a:latin typeface="Calibri" pitchFamily="34" charset="0"/>
                <a:ea typeface="Calibri" pitchFamily="34" charset="-122"/>
                <a:cs typeface="Calibri" pitchFamily="34" charset="-120"/>
              </a:rPr>
              <a:t>WhatsApp</a:t>
            </a:r>
            <a:pPr indent="0" marL="0">
              <a:buNone/>
            </a:pPr>
            <a:r>
              <a:rPr lang="en-US" sz="1500" dirty="0">
                <a:solidFill>
                  <a:srgbClr val="1E293B"/>
                </a:solidFill>
                <a:latin typeface="Calibri" pitchFamily="34" charset="0"/>
                <a:ea typeface="Calibri" pitchFamily="34" charset="-122"/>
                <a:cs typeface="Calibri" pitchFamily="34" charset="-120"/>
              </a:rPr>
              <a:t> + the LLM Wiki pattern</a:t>
            </a:r>
            <a:endParaRPr lang="en-US" sz="1500" dirty="0"/>
          </a:p>
        </p:txBody>
      </p:sp>
      <p:sp>
        <p:nvSpPr>
          <p:cNvPr id="10" name="Text 8"/>
          <p:cNvSpPr/>
          <p:nvPr/>
        </p:nvSpPr>
        <p:spPr>
          <a:xfrm>
            <a:off x="457200" y="4297680"/>
            <a:ext cx="82296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Today you build a near-identical system on whatever hardware you have.</a:t>
            </a:r>
            <a:endParaRPr lang="en-US" sz="1200" dirty="0"/>
          </a:p>
        </p:txBody>
      </p:sp>
      <p:sp>
        <p:nvSpPr>
          <p:cNvPr id="12" name="Shape 9"/>
          <p:cNvSpPr/>
          <p:nvPr/>
        </p:nvSpPr>
        <p:spPr>
          <a:xfrm>
            <a:off x="457200" y="4864608"/>
            <a:ext cx="91440" cy="91440"/>
          </a:xfrm>
          <a:prstGeom prst="rect">
            <a:avLst/>
          </a:prstGeom>
          <a:solidFill>
            <a:srgbClr val="0D9488"/>
          </a:solidFill>
          <a:ln w="12700">
            <a:solidFill>
              <a:srgbClr val="0D9488"/>
            </a:solidFill>
            <a:prstDash val="solid"/>
          </a:ln>
        </p:spPr>
      </p:sp>
      <p:sp>
        <p:nvSpPr>
          <p:cNvPr id="13" name="Text 10"/>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14" name="Text 11"/>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25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WHAT WE'RE BUILDING</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Three boxes. One of them is yours.</a:t>
            </a:r>
            <a:endParaRPr lang="en-US" sz="3200" dirty="0"/>
          </a:p>
        </p:txBody>
      </p:sp>
      <p:sp>
        <p:nvSpPr>
          <p:cNvPr id="4" name="Shape 2"/>
          <p:cNvSpPr/>
          <p:nvPr/>
        </p:nvSpPr>
        <p:spPr>
          <a:xfrm>
            <a:off x="457200" y="1554480"/>
            <a:ext cx="2194560" cy="1371600"/>
          </a:xfrm>
          <a:prstGeom prst="rect">
            <a:avLst/>
          </a:prstGeom>
          <a:solidFill>
            <a:srgbClr val="FFFFFF"/>
          </a:solidFill>
          <a:ln w="25400">
            <a:solidFill>
              <a:srgbClr val="1E293B"/>
            </a:solidFill>
            <a:prstDash val="solid"/>
          </a:ln>
        </p:spPr>
      </p:sp>
      <p:sp>
        <p:nvSpPr>
          <p:cNvPr id="5" name="Text 3"/>
          <p:cNvSpPr/>
          <p:nvPr/>
        </p:nvSpPr>
        <p:spPr>
          <a:xfrm>
            <a:off x="457200" y="1691640"/>
            <a:ext cx="219456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PHONE</a:t>
            </a:r>
            <a:endParaRPr lang="en-US" sz="1000" dirty="0"/>
          </a:p>
        </p:txBody>
      </p:sp>
      <p:sp>
        <p:nvSpPr>
          <p:cNvPr id="6" name="Text 4"/>
          <p:cNvSpPr/>
          <p:nvPr/>
        </p:nvSpPr>
        <p:spPr>
          <a:xfrm>
            <a:off x="457200" y="2011680"/>
            <a:ext cx="2194560" cy="457200"/>
          </a:xfrm>
          <a:prstGeom prst="rect">
            <a:avLst/>
          </a:prstGeom>
          <a:noFill/>
          <a:ln/>
        </p:spPr>
        <p:txBody>
          <a:bodyPr wrap="square" lIns="0" tIns="0" rIns="0" bIns="0" rtlCol="0" anchor="ctr"/>
          <a:lstStyle/>
          <a:p>
            <a:pPr algn="ctr" indent="0" marL="0">
              <a:buNone/>
            </a:pPr>
            <a:r>
              <a:rPr lang="en-US" sz="2000" b="1" dirty="0">
                <a:solidFill>
                  <a:srgbClr val="1E293B"/>
                </a:solidFill>
                <a:latin typeface="Cambria" pitchFamily="34" charset="0"/>
                <a:ea typeface="Cambria" pitchFamily="34" charset="-122"/>
                <a:cs typeface="Cambria" pitchFamily="34" charset="-120"/>
              </a:rPr>
              <a:t>Telegram</a:t>
            </a:r>
            <a:endParaRPr lang="en-US" sz="2000" dirty="0"/>
          </a:p>
        </p:txBody>
      </p:sp>
      <p:sp>
        <p:nvSpPr>
          <p:cNvPr id="7" name="Text 5"/>
          <p:cNvSpPr/>
          <p:nvPr/>
        </p:nvSpPr>
        <p:spPr>
          <a:xfrm>
            <a:off x="457200" y="2468880"/>
            <a:ext cx="2194560" cy="45720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Your interface,</a:t>
            </a:r>
            <a:endParaRPr lang="en-US" sz="1100" dirty="0"/>
          </a:p>
          <a:p>
            <a:pPr algn="ctr" indent="0" marL="0">
              <a:buNone/>
            </a:pPr>
            <a:r>
              <a:rPr lang="en-US" sz="1100" i="1" dirty="0">
                <a:solidFill>
                  <a:srgbClr val="64748B"/>
                </a:solidFill>
                <a:latin typeface="Calibri" pitchFamily="34" charset="0"/>
                <a:ea typeface="Calibri" pitchFamily="34" charset="-122"/>
                <a:cs typeface="Calibri" pitchFamily="34" charset="-120"/>
              </a:rPr>
              <a:t>anywhere</a:t>
            </a:r>
            <a:endParaRPr lang="en-US" sz="1100" dirty="0"/>
          </a:p>
        </p:txBody>
      </p:sp>
      <p:sp>
        <p:nvSpPr>
          <p:cNvPr id="8" name="Shape 6"/>
          <p:cNvSpPr/>
          <p:nvPr/>
        </p:nvSpPr>
        <p:spPr>
          <a:xfrm>
            <a:off x="2697480" y="2240280"/>
            <a:ext cx="548640" cy="0"/>
          </a:xfrm>
          <a:prstGeom prst="line">
            <a:avLst/>
          </a:prstGeom>
          <a:noFill/>
          <a:ln w="25400">
            <a:solidFill>
              <a:srgbClr val="1E293B"/>
            </a:solidFill>
            <a:prstDash val="solid"/>
            <a:headEnd type="triangle"/>
            <a:tailEnd type="triangle"/>
          </a:ln>
        </p:spPr>
      </p:sp>
      <p:sp>
        <p:nvSpPr>
          <p:cNvPr id="9" name="Shape 7"/>
          <p:cNvSpPr/>
          <p:nvPr/>
        </p:nvSpPr>
        <p:spPr>
          <a:xfrm>
            <a:off x="3291840" y="1554480"/>
            <a:ext cx="2560320" cy="1371600"/>
          </a:xfrm>
          <a:prstGeom prst="rect">
            <a:avLst/>
          </a:prstGeom>
          <a:solidFill>
            <a:srgbClr val="CCFBF1"/>
          </a:solidFill>
          <a:ln w="38100">
            <a:solidFill>
              <a:srgbClr val="0D9488"/>
            </a:solidFill>
            <a:prstDash val="solid"/>
          </a:ln>
        </p:spPr>
      </p:sp>
      <p:sp>
        <p:nvSpPr>
          <p:cNvPr id="10" name="Text 8"/>
          <p:cNvSpPr/>
          <p:nvPr/>
        </p:nvSpPr>
        <p:spPr>
          <a:xfrm>
            <a:off x="3291840" y="1691640"/>
            <a:ext cx="2560320" cy="274320"/>
          </a:xfrm>
          <a:prstGeom prst="rect">
            <a:avLst/>
          </a:prstGeom>
          <a:noFill/>
          <a:ln/>
        </p:spPr>
        <p:txBody>
          <a:bodyPr wrap="square" lIns="0" tIns="0" rIns="0" bIns="0" rtlCol="0" anchor="ctr"/>
          <a:lstStyle/>
          <a:p>
            <a:pPr algn="ctr" indent="0" marL="0">
              <a:buNone/>
            </a:pPr>
            <a:r>
              <a:rPr lang="en-US" sz="1000" b="1" spc="400" kern="0" dirty="0">
                <a:solidFill>
                  <a:srgbClr val="0D9488"/>
                </a:solidFill>
                <a:latin typeface="Calibri" pitchFamily="34" charset="0"/>
                <a:ea typeface="Calibri" pitchFamily="34" charset="-122"/>
                <a:cs typeface="Calibri" pitchFamily="34" charset="-120"/>
              </a:rPr>
              <a:t>YOUR MACHINE</a:t>
            </a:r>
            <a:endParaRPr lang="en-US" sz="1000" dirty="0"/>
          </a:p>
        </p:txBody>
      </p:sp>
      <p:sp>
        <p:nvSpPr>
          <p:cNvPr id="11" name="Text 9"/>
          <p:cNvSpPr/>
          <p:nvPr/>
        </p:nvSpPr>
        <p:spPr>
          <a:xfrm>
            <a:off x="3291840" y="2011680"/>
            <a:ext cx="2560320" cy="457200"/>
          </a:xfrm>
          <a:prstGeom prst="rect">
            <a:avLst/>
          </a:prstGeom>
          <a:noFill/>
          <a:ln/>
        </p:spPr>
        <p:txBody>
          <a:bodyPr wrap="square" lIns="0" tIns="0" rIns="0" bIns="0" rtlCol="0" anchor="ctr"/>
          <a:lstStyle/>
          <a:p>
            <a:pPr algn="ctr" indent="0" marL="0">
              <a:buNone/>
            </a:pPr>
            <a:r>
              <a:rPr lang="en-US" sz="1800" b="1" dirty="0">
                <a:solidFill>
                  <a:srgbClr val="1E293B"/>
                </a:solidFill>
                <a:latin typeface="Cambria" pitchFamily="34" charset="0"/>
                <a:ea typeface="Cambria" pitchFamily="34" charset="-122"/>
                <a:cs typeface="Cambria" pitchFamily="34" charset="-120"/>
              </a:rPr>
              <a:t>Nanobot Gateway</a:t>
            </a:r>
            <a:endParaRPr lang="en-US" sz="1800" dirty="0"/>
          </a:p>
        </p:txBody>
      </p:sp>
      <p:sp>
        <p:nvSpPr>
          <p:cNvPr id="12" name="Text 10"/>
          <p:cNvSpPr/>
          <p:nvPr/>
        </p:nvSpPr>
        <p:spPr>
          <a:xfrm>
            <a:off x="3291840" y="2468880"/>
            <a:ext cx="2560320" cy="457200"/>
          </a:xfrm>
          <a:prstGeom prst="rect">
            <a:avLst/>
          </a:prstGeom>
          <a:noFill/>
          <a:ln/>
        </p:spPr>
        <p:txBody>
          <a:bodyPr wrap="square" lIns="0" tIns="0" rIns="0" bIns="0" rtlCol="0" anchor="ctr"/>
          <a:lstStyle/>
          <a:p>
            <a:pPr algn="ctr" indent="0" marL="0">
              <a:buNone/>
            </a:pPr>
            <a:r>
              <a:rPr lang="en-US" sz="1100" dirty="0">
                <a:solidFill>
                  <a:srgbClr val="1E293B"/>
                </a:solidFill>
                <a:latin typeface="Consolas" pitchFamily="34" charset="0"/>
                <a:ea typeface="Consolas" pitchFamily="34" charset="-122"/>
                <a:cs typeface="Consolas" pitchFamily="34" charset="-120"/>
              </a:rPr>
              <a:t>+ MEMORY.md</a:t>
            </a:r>
            <a:endParaRPr lang="en-US" sz="1100" dirty="0"/>
          </a:p>
          <a:p>
            <a:pPr algn="ctr" indent="0" marL="0">
              <a:buNone/>
            </a:pPr>
            <a:r>
              <a:rPr lang="en-US" sz="1100" dirty="0">
                <a:solidFill>
                  <a:srgbClr val="1E293B"/>
                </a:solidFill>
                <a:latin typeface="Consolas" pitchFamily="34" charset="0"/>
                <a:ea typeface="Consolas" pitchFamily="34" charset="-122"/>
                <a:cs typeface="Consolas" pitchFamily="34" charset="-120"/>
              </a:rPr>
              <a:t>+ AGENTS.md</a:t>
            </a:r>
            <a:endParaRPr lang="en-US" sz="1100" dirty="0"/>
          </a:p>
        </p:txBody>
      </p:sp>
      <p:sp>
        <p:nvSpPr>
          <p:cNvPr id="13" name="Shape 11"/>
          <p:cNvSpPr/>
          <p:nvPr/>
        </p:nvSpPr>
        <p:spPr>
          <a:xfrm>
            <a:off x="5897880" y="2240280"/>
            <a:ext cx="548640" cy="0"/>
          </a:xfrm>
          <a:prstGeom prst="line">
            <a:avLst/>
          </a:prstGeom>
          <a:noFill/>
          <a:ln w="25400">
            <a:solidFill>
              <a:srgbClr val="64748B"/>
            </a:solidFill>
            <a:prstDash val="solid"/>
            <a:headEnd type="triangle"/>
            <a:tailEnd type="triangle"/>
          </a:ln>
        </p:spPr>
      </p:sp>
      <p:sp>
        <p:nvSpPr>
          <p:cNvPr id="14" name="Shape 12"/>
          <p:cNvSpPr/>
          <p:nvPr/>
        </p:nvSpPr>
        <p:spPr>
          <a:xfrm>
            <a:off x="6492240" y="1554480"/>
            <a:ext cx="2194560" cy="1371600"/>
          </a:xfrm>
          <a:prstGeom prst="rect">
            <a:avLst/>
          </a:prstGeom>
          <a:solidFill>
            <a:srgbClr val="FFFFFF"/>
          </a:solidFill>
          <a:ln w="25400">
            <a:solidFill>
              <a:srgbClr val="64748B"/>
            </a:solidFill>
            <a:prstDash val="dash"/>
          </a:ln>
        </p:spPr>
      </p:sp>
      <p:sp>
        <p:nvSpPr>
          <p:cNvPr id="15" name="Text 13"/>
          <p:cNvSpPr/>
          <p:nvPr/>
        </p:nvSpPr>
        <p:spPr>
          <a:xfrm>
            <a:off x="6492240" y="1691640"/>
            <a:ext cx="219456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CLOUD</a:t>
            </a:r>
            <a:endParaRPr lang="en-US" sz="1000" dirty="0"/>
          </a:p>
        </p:txBody>
      </p:sp>
      <p:sp>
        <p:nvSpPr>
          <p:cNvPr id="16" name="Text 14"/>
          <p:cNvSpPr/>
          <p:nvPr/>
        </p:nvSpPr>
        <p:spPr>
          <a:xfrm>
            <a:off x="6492240" y="2011680"/>
            <a:ext cx="2194560" cy="457200"/>
          </a:xfrm>
          <a:prstGeom prst="rect">
            <a:avLst/>
          </a:prstGeom>
          <a:noFill/>
          <a:ln/>
        </p:spPr>
        <p:txBody>
          <a:bodyPr wrap="square" lIns="0" tIns="0" rIns="0" bIns="0" rtlCol="0" anchor="ctr"/>
          <a:lstStyle/>
          <a:p>
            <a:pPr algn="ctr" indent="0" marL="0">
              <a:buNone/>
            </a:pPr>
            <a:r>
              <a:rPr lang="en-US" sz="2000" b="1" dirty="0">
                <a:solidFill>
                  <a:srgbClr val="1E293B"/>
                </a:solidFill>
                <a:latin typeface="Cambria" pitchFamily="34" charset="0"/>
                <a:ea typeface="Cambria" pitchFamily="34" charset="-122"/>
                <a:cs typeface="Cambria" pitchFamily="34" charset="-120"/>
              </a:rPr>
              <a:t>LLM</a:t>
            </a:r>
            <a:endParaRPr lang="en-US" sz="2000" dirty="0"/>
          </a:p>
        </p:txBody>
      </p:sp>
      <p:sp>
        <p:nvSpPr>
          <p:cNvPr id="17" name="Text 15"/>
          <p:cNvSpPr/>
          <p:nvPr/>
        </p:nvSpPr>
        <p:spPr>
          <a:xfrm>
            <a:off x="6492240" y="2468880"/>
            <a:ext cx="2194560" cy="457200"/>
          </a:xfrm>
          <a:prstGeom prst="rect">
            <a:avLst/>
          </a:prstGeom>
          <a:noFill/>
          <a:ln/>
        </p:spPr>
        <p:txBody>
          <a:bodyPr wrap="square" lIns="0" tIns="0" rIns="0" bIns="0" rtlCol="0" anchor="ctr"/>
          <a:lstStyle/>
          <a:p>
            <a:pPr algn="ctr" indent="0" marL="0">
              <a:buNone/>
            </a:pPr>
            <a:r>
              <a:rPr lang="en-US" sz="1100" i="1" dirty="0">
                <a:solidFill>
                  <a:srgbClr val="64748B"/>
                </a:solidFill>
                <a:latin typeface="Calibri" pitchFamily="34" charset="0"/>
                <a:ea typeface="Calibri" pitchFamily="34" charset="-122"/>
                <a:cs typeface="Calibri" pitchFamily="34" charset="-120"/>
              </a:rPr>
              <a:t>(or swap for</a:t>
            </a:r>
            <a:endParaRPr lang="en-US" sz="1100" dirty="0"/>
          </a:p>
          <a:p>
            <a:pPr algn="ctr" indent="0" marL="0">
              <a:buNone/>
            </a:pPr>
            <a:r>
              <a:rPr lang="en-US" sz="1100" i="1" dirty="0">
                <a:solidFill>
                  <a:srgbClr val="64748B"/>
                </a:solidFill>
                <a:latin typeface="Calibri" pitchFamily="34" charset="0"/>
                <a:ea typeface="Calibri" pitchFamily="34" charset="-122"/>
                <a:cs typeface="Calibri" pitchFamily="34" charset="-120"/>
              </a:rPr>
              <a:t>local Ollama)</a:t>
            </a:r>
            <a:endParaRPr lang="en-US" sz="1100" dirty="0"/>
          </a:p>
        </p:txBody>
      </p:sp>
      <p:sp>
        <p:nvSpPr>
          <p:cNvPr id="18" name="Shape 16"/>
          <p:cNvSpPr/>
          <p:nvPr/>
        </p:nvSpPr>
        <p:spPr>
          <a:xfrm>
            <a:off x="457200" y="3291840"/>
            <a:ext cx="8229600" cy="1280160"/>
          </a:xfrm>
          <a:prstGeom prst="rect">
            <a:avLst/>
          </a:prstGeom>
          <a:solidFill>
            <a:srgbClr val="F8FAFC"/>
          </a:solidFill>
          <a:ln w="12700">
            <a:solidFill>
              <a:srgbClr val="E2E8F0"/>
            </a:solidFill>
            <a:prstDash val="solid"/>
          </a:ln>
        </p:spPr>
      </p:sp>
      <p:sp>
        <p:nvSpPr>
          <p:cNvPr id="19" name="Text 17"/>
          <p:cNvSpPr/>
          <p:nvPr/>
        </p:nvSpPr>
        <p:spPr>
          <a:xfrm>
            <a:off x="731520" y="3429000"/>
            <a:ext cx="7772400" cy="36576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The wiki and the rules NEVER leave your machine.</a:t>
            </a:r>
            <a:endParaRPr lang="en-US" sz="1600" dirty="0"/>
          </a:p>
        </p:txBody>
      </p:sp>
      <p:sp>
        <p:nvSpPr>
          <p:cNvPr id="20" name="Text 18"/>
          <p:cNvSpPr/>
          <p:nvPr/>
        </p:nvSpPr>
        <p:spPr>
          <a:xfrm>
            <a:off x="731520" y="3794760"/>
            <a:ext cx="7772400" cy="73152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With cloud (Path A), only your prompts go to the LLM — same as ChatGPT. With local (Path B), nothing leaves your machine at all. </a:t>
            </a:r>
            <a:pPr indent="0" marL="0">
              <a:buNone/>
            </a:pPr>
            <a:r>
              <a:rPr lang="en-US" sz="1200" dirty="0">
                <a:solidFill>
                  <a:srgbClr val="64748B"/>
                </a:solidFill>
                <a:latin typeface="Calibri" pitchFamily="34" charset="0"/>
                <a:ea typeface="Calibri" pitchFamily="34" charset="-122"/>
                <a:cs typeface="Calibri" pitchFamily="34" charset="-120"/>
              </a:rPr>
              <a:t>Either way, what makes it YOUR brain stays on disk in plain markdown you can read in any editor.</a:t>
            </a:r>
            <a:endParaRPr lang="en-US" sz="1200" dirty="0"/>
          </a:p>
        </p:txBody>
      </p:sp>
      <p:sp>
        <p:nvSpPr>
          <p:cNvPr id="22" name="Shape 19"/>
          <p:cNvSpPr/>
          <p:nvPr/>
        </p:nvSpPr>
        <p:spPr>
          <a:xfrm>
            <a:off x="457200" y="4864608"/>
            <a:ext cx="91440" cy="91440"/>
          </a:xfrm>
          <a:prstGeom prst="rect">
            <a:avLst/>
          </a:prstGeom>
          <a:solidFill>
            <a:srgbClr val="0D9488"/>
          </a:solidFill>
          <a:ln w="12700">
            <a:solidFill>
              <a:srgbClr val="0D9488"/>
            </a:solidFill>
            <a:prstDash val="solid"/>
          </a:ln>
        </p:spPr>
      </p:sp>
      <p:sp>
        <p:nvSpPr>
          <p:cNvPr id="23" name="Text 20"/>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4" name="Text 21"/>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25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WHAT TO EXPECT ON YOUR HARDWARE</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Both paths work. Speed is the trade-off.</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3108960"/>
                <a:gridCol w="2560320"/>
                <a:gridCol w="256032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YOUR MACHINE</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LOCAL (PATH B)</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CLOUD (PATH A)</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172A"/>
                    </a:solidFill>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Laptop w/ NVIDIA GPU (≥6 GB)</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5-15s/reply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5-15s/reply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Apple Silicon (M1/M2/M3)</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10-30s/reply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5-15s/reply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CPU-only laptop</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  30-90s/reply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5-15s/reply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Raspberry Pi 5 (16 GB)</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  1-4 min/reply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5-15s/reply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6576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Raspberry Pi 4/5 (8 GB)</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dirty="0">
                          <a:solidFill>
                            <a:srgbClr val="64748B"/>
                          </a:solidFill>
                          <a:latin typeface="Calibri" pitchFamily="34" charset="0"/>
                          <a:ea typeface="Calibri" pitchFamily="34" charset="-122"/>
                          <a:cs typeface="Calibri" pitchFamily="34" charset="-120"/>
                        </a:rPr>
                        <a:t>😐  30-90s/reply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  5-15s/reply</a:t>
                      </a:r>
                      <a:endParaRPr lang="en-US" sz="12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457200" y="4023360"/>
            <a:ext cx="8229600" cy="640080"/>
          </a:xfrm>
          <a:prstGeom prst="rect">
            <a:avLst/>
          </a:prstGeom>
          <a:solidFill>
            <a:srgbClr val="CCFBF1"/>
          </a:solidFill>
          <a:ln w="12700">
            <a:solidFill>
              <a:srgbClr val="0D9488"/>
            </a:solidFill>
            <a:prstDash val="solid"/>
          </a:ln>
        </p:spPr>
      </p:sp>
      <p:sp>
        <p:nvSpPr>
          <p:cNvPr id="6" name="Text 3"/>
          <p:cNvSpPr/>
          <p:nvPr/>
        </p:nvSpPr>
        <p:spPr>
          <a:xfrm>
            <a:off x="640080" y="4069080"/>
            <a:ext cx="7863840" cy="548640"/>
          </a:xfrm>
          <a:prstGeom prst="rect">
            <a:avLst/>
          </a:prstGeom>
          <a:noFill/>
          <a:ln/>
        </p:spPr>
        <p:txBody>
          <a:bodyPr wrap="square" lIns="0" tIns="0" rIns="0" bIns="0"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Pick by priority, not by capability: </a:t>
            </a:r>
            <a:pPr indent="0" marL="0">
              <a:buNone/>
            </a:pPr>
            <a:r>
              <a:rPr lang="en-US" sz="1100" dirty="0">
                <a:solidFill>
                  <a:srgbClr val="1E293B"/>
                </a:solidFill>
                <a:latin typeface="Calibri" pitchFamily="34" charset="0"/>
                <a:ea typeface="Calibri" pitchFamily="34" charset="-122"/>
                <a:cs typeface="Calibri" pitchFamily="34" charset="-120"/>
              </a:rPr>
              <a:t>cloud for speed and ease, local for privacy/offline. Worksheet Path B handles the 120s timeout for you (Step B.3).</a:t>
            </a:r>
            <a:endParaRPr lang="en-US" sz="1100" dirty="0"/>
          </a:p>
        </p:txBody>
      </p:sp>
      <p:sp>
        <p:nvSpPr>
          <p:cNvPr id="8" name="Shape 4"/>
          <p:cNvSpPr/>
          <p:nvPr/>
        </p:nvSpPr>
        <p:spPr>
          <a:xfrm>
            <a:off x="457200" y="4864608"/>
            <a:ext cx="91440" cy="91440"/>
          </a:xfrm>
          <a:prstGeom prst="rect">
            <a:avLst/>
          </a:prstGeom>
          <a:solidFill>
            <a:srgbClr val="0D9488"/>
          </a:solidFill>
          <a:ln w="12700">
            <a:solidFill>
              <a:srgbClr val="0D9488"/>
            </a:solidFill>
            <a:prstDash val="solid"/>
          </a:ln>
        </p:spPr>
      </p:sp>
      <p:sp>
        <p:nvSpPr>
          <p:cNvPr id="9" name="Text 5"/>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10" name="Text 6"/>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25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WHAT 'DONE' LOOKS LIKE</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A bot on your phone, a wiki on your machine.</a:t>
            </a:r>
            <a:endParaRPr lang="en-US" sz="3200" dirty="0"/>
          </a:p>
        </p:txBody>
      </p:sp>
      <p:sp>
        <p:nvSpPr>
          <p:cNvPr id="4" name="Shape 2"/>
          <p:cNvSpPr/>
          <p:nvPr/>
        </p:nvSpPr>
        <p:spPr>
          <a:xfrm>
            <a:off x="548640" y="1417320"/>
            <a:ext cx="2743200" cy="3291840"/>
          </a:xfrm>
          <a:prstGeom prst="roundRect">
            <a:avLst>
              <a:gd name="adj" fmla="val 5000"/>
            </a:avLst>
          </a:prstGeom>
          <a:solidFill>
            <a:srgbClr val="0F172A"/>
          </a:solidFill>
          <a:ln w="12700">
            <a:solidFill>
              <a:srgbClr val="0F172A"/>
            </a:solidFill>
            <a:prstDash val="solid"/>
          </a:ln>
        </p:spPr>
      </p:sp>
      <p:sp>
        <p:nvSpPr>
          <p:cNvPr id="5" name="Shape 3"/>
          <p:cNvSpPr/>
          <p:nvPr/>
        </p:nvSpPr>
        <p:spPr>
          <a:xfrm>
            <a:off x="731520" y="1645920"/>
            <a:ext cx="2377440" cy="2743200"/>
          </a:xfrm>
          <a:prstGeom prst="rect">
            <a:avLst/>
          </a:prstGeom>
          <a:solidFill>
            <a:srgbClr val="DCFCE7"/>
          </a:solidFill>
          <a:ln w="12700">
            <a:solidFill>
              <a:srgbClr val="DCFCE7"/>
            </a:solidFill>
            <a:prstDash val="solid"/>
          </a:ln>
        </p:spPr>
      </p:sp>
      <p:sp>
        <p:nvSpPr>
          <p:cNvPr id="6" name="Shape 4"/>
          <p:cNvSpPr/>
          <p:nvPr/>
        </p:nvSpPr>
        <p:spPr>
          <a:xfrm>
            <a:off x="731520" y="1645920"/>
            <a:ext cx="2377440" cy="292608"/>
          </a:xfrm>
          <a:prstGeom prst="rect">
            <a:avLst/>
          </a:prstGeom>
          <a:solidFill>
            <a:srgbClr val="FFFFFF"/>
          </a:solidFill>
          <a:ln w="12700">
            <a:solidFill>
              <a:srgbClr val="FFFFFF"/>
            </a:solidFill>
            <a:prstDash val="solid"/>
          </a:ln>
        </p:spPr>
      </p:sp>
      <p:sp>
        <p:nvSpPr>
          <p:cNvPr id="7" name="Text 5"/>
          <p:cNvSpPr/>
          <p:nvPr/>
        </p:nvSpPr>
        <p:spPr>
          <a:xfrm>
            <a:off x="777240" y="1664208"/>
            <a:ext cx="2286000" cy="256032"/>
          </a:xfrm>
          <a:prstGeom prst="rect">
            <a:avLst/>
          </a:prstGeom>
          <a:noFill/>
          <a:ln/>
        </p:spPr>
        <p:txBody>
          <a:bodyPr wrap="square" lIns="0" tIns="0" rIns="0" bIns="0" rtlCol="0" anchor="ctr"/>
          <a:lstStyle/>
          <a:p>
            <a:pPr indent="0" marL="0">
              <a:buNone/>
            </a:pPr>
            <a:r>
              <a:rPr lang="en-US" sz="1000" b="1" dirty="0">
                <a:solidFill>
                  <a:srgbClr val="1E293B"/>
                </a:solidFill>
                <a:latin typeface="Calibri" pitchFamily="34" charset="0"/>
                <a:ea typeface="Calibri" pitchFamily="34" charset="-122"/>
                <a:cs typeface="Calibri" pitchFamily="34" charset="-120"/>
              </a:rPr>
              <a:t>@my_brain_bot</a:t>
            </a:r>
            <a:endParaRPr lang="en-US" sz="1000" dirty="0"/>
          </a:p>
        </p:txBody>
      </p:sp>
      <p:sp>
        <p:nvSpPr>
          <p:cNvPr id="8" name="Shape 6"/>
          <p:cNvSpPr/>
          <p:nvPr/>
        </p:nvSpPr>
        <p:spPr>
          <a:xfrm>
            <a:off x="1371600" y="2057400"/>
            <a:ext cx="1691640" cy="365760"/>
          </a:xfrm>
          <a:prstGeom prst="roundRect">
            <a:avLst>
              <a:gd name="adj" fmla="val 20000"/>
            </a:avLst>
          </a:prstGeom>
          <a:solidFill>
            <a:srgbClr val="BBF7D0"/>
          </a:solidFill>
          <a:ln w="12700">
            <a:solidFill>
              <a:srgbClr val="BBF7D0"/>
            </a:solidFill>
            <a:prstDash val="solid"/>
          </a:ln>
        </p:spPr>
      </p:sp>
      <p:sp>
        <p:nvSpPr>
          <p:cNvPr id="9" name="Text 7"/>
          <p:cNvSpPr/>
          <p:nvPr/>
        </p:nvSpPr>
        <p:spPr>
          <a:xfrm>
            <a:off x="1417320" y="2057400"/>
            <a:ext cx="1645920"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Ingest this source...</a:t>
            </a:r>
            <a:endParaRPr lang="en-US" sz="900" dirty="0"/>
          </a:p>
        </p:txBody>
      </p:sp>
      <p:sp>
        <p:nvSpPr>
          <p:cNvPr id="10" name="Shape 8"/>
          <p:cNvSpPr/>
          <p:nvPr/>
        </p:nvSpPr>
        <p:spPr>
          <a:xfrm>
            <a:off x="777240" y="2514600"/>
            <a:ext cx="1828800" cy="640080"/>
          </a:xfrm>
          <a:prstGeom prst="roundRect">
            <a:avLst>
              <a:gd name="adj" fmla="val 11429"/>
            </a:avLst>
          </a:prstGeom>
          <a:solidFill>
            <a:srgbClr val="FFFFFF"/>
          </a:solidFill>
          <a:ln w="12700">
            <a:solidFill>
              <a:srgbClr val="FFFFFF"/>
            </a:solidFill>
            <a:prstDash val="solid"/>
          </a:ln>
        </p:spPr>
      </p:sp>
      <p:sp>
        <p:nvSpPr>
          <p:cNvPr id="11" name="Text 9"/>
          <p:cNvSpPr/>
          <p:nvPr/>
        </p:nvSpPr>
        <p:spPr>
          <a:xfrm>
            <a:off x="841248" y="2542032"/>
            <a:ext cx="1737360" cy="64008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 Added to Mental Models:</a:t>
            </a:r>
            <a:endParaRPr lang="en-US" sz="800" dirty="0"/>
          </a:p>
          <a:p>
            <a:pPr indent="0" marL="0">
              <a:buNone/>
            </a:pPr>
            <a:r>
              <a:rPr lang="en-US" sz="800" dirty="0">
                <a:solidFill>
                  <a:srgbClr val="1E293B"/>
                </a:solidFill>
                <a:latin typeface="Calibri" pitchFamily="34" charset="0"/>
                <a:ea typeface="Calibri" pitchFamily="34" charset="-122"/>
                <a:cs typeface="Calibri" pitchFamily="34" charset="-120"/>
              </a:rPr>
              <a:t>LLM Persistent Wiki Pattern</a:t>
            </a:r>
            <a:endParaRPr lang="en-US" sz="800" dirty="0"/>
          </a:p>
          <a:p>
            <a:pPr indent="0" marL="0">
              <a:buNone/>
            </a:pPr>
            <a:r>
              <a:rPr lang="en-US" sz="800" dirty="0">
                <a:solidFill>
                  <a:srgbClr val="1E293B"/>
                </a:solidFill>
                <a:latin typeface="Calibri" pitchFamily="34" charset="0"/>
                <a:ea typeface="Calibri" pitchFamily="34" charset="-122"/>
                <a:cs typeface="Calibri" pitchFamily="34" charset="-120"/>
              </a:rPr>
              <a:t>(source filed, quotes captured)</a:t>
            </a:r>
            <a:endParaRPr lang="en-US" sz="800" dirty="0"/>
          </a:p>
        </p:txBody>
      </p:sp>
      <p:sp>
        <p:nvSpPr>
          <p:cNvPr id="12" name="Shape 10"/>
          <p:cNvSpPr/>
          <p:nvPr/>
        </p:nvSpPr>
        <p:spPr>
          <a:xfrm>
            <a:off x="1371600" y="3246120"/>
            <a:ext cx="1691640" cy="365760"/>
          </a:xfrm>
          <a:prstGeom prst="roundRect">
            <a:avLst>
              <a:gd name="adj" fmla="val 20000"/>
            </a:avLst>
          </a:prstGeom>
          <a:solidFill>
            <a:srgbClr val="BBF7D0"/>
          </a:solidFill>
          <a:ln w="12700">
            <a:solidFill>
              <a:srgbClr val="BBF7D0"/>
            </a:solidFill>
            <a:prstDash val="solid"/>
          </a:ln>
        </p:spPr>
      </p:sp>
      <p:sp>
        <p:nvSpPr>
          <p:cNvPr id="13" name="Text 11"/>
          <p:cNvSpPr/>
          <p:nvPr/>
        </p:nvSpPr>
        <p:spPr>
          <a:xfrm>
            <a:off x="1417320" y="3246120"/>
            <a:ext cx="1645920" cy="365760"/>
          </a:xfrm>
          <a:prstGeom prst="rect">
            <a:avLst/>
          </a:prstGeom>
          <a:noFill/>
          <a:ln/>
        </p:spPr>
        <p:txBody>
          <a:bodyPr wrap="square" lIns="0" tIns="0" rIns="0" bIns="0" rtlCol="0" anchor="ctr"/>
          <a:lstStyle/>
          <a:p>
            <a:pPr indent="0" marL="0">
              <a:buNone/>
            </a:pPr>
            <a:r>
              <a:rPr lang="en-US" sz="900" dirty="0">
                <a:solidFill>
                  <a:srgbClr val="1E293B"/>
                </a:solidFill>
                <a:latin typeface="Calibri" pitchFamily="34" charset="0"/>
                <a:ea typeface="Calibri" pitchFamily="34" charset="-122"/>
                <a:cs typeface="Calibri" pitchFamily="34" charset="-120"/>
              </a:rPr>
              <a:t>What's the LLM Wiki pattern?</a:t>
            </a:r>
            <a:endParaRPr lang="en-US" sz="900" dirty="0"/>
          </a:p>
        </p:txBody>
      </p:sp>
      <p:sp>
        <p:nvSpPr>
          <p:cNvPr id="14" name="Shape 12"/>
          <p:cNvSpPr/>
          <p:nvPr/>
        </p:nvSpPr>
        <p:spPr>
          <a:xfrm>
            <a:off x="777240" y="3703320"/>
            <a:ext cx="2011680" cy="594360"/>
          </a:xfrm>
          <a:prstGeom prst="roundRect">
            <a:avLst>
              <a:gd name="adj" fmla="val 12308"/>
            </a:avLst>
          </a:prstGeom>
          <a:solidFill>
            <a:srgbClr val="FFFFFF"/>
          </a:solidFill>
          <a:ln w="12700">
            <a:solidFill>
              <a:srgbClr val="FFFFFF"/>
            </a:solidFill>
            <a:prstDash val="solid"/>
          </a:ln>
        </p:spPr>
      </p:sp>
      <p:sp>
        <p:nvSpPr>
          <p:cNvPr id="15" name="Text 13"/>
          <p:cNvSpPr/>
          <p:nvPr/>
        </p:nvSpPr>
        <p:spPr>
          <a:xfrm>
            <a:off x="841248" y="3730752"/>
            <a:ext cx="1920240" cy="548640"/>
          </a:xfrm>
          <a:prstGeom prst="rect">
            <a:avLst/>
          </a:prstGeom>
          <a:noFill/>
          <a:ln/>
        </p:spPr>
        <p:txBody>
          <a:bodyPr wrap="square" lIns="0" tIns="0" rIns="0" bIns="0" rtlCol="0" anchor="ctr"/>
          <a:lstStyle/>
          <a:p>
            <a:pPr indent="0" marL="0">
              <a:buNone/>
            </a:pPr>
            <a:r>
              <a:rPr lang="en-US" sz="800" dirty="0">
                <a:solidFill>
                  <a:srgbClr val="1E293B"/>
                </a:solidFill>
                <a:latin typeface="Calibri" pitchFamily="34" charset="0"/>
                <a:ea typeface="Calibri" pitchFamily="34" charset="-122"/>
                <a:cs typeface="Calibri" pitchFamily="34" charset="-120"/>
              </a:rPr>
              <a:t>An LLM incrementally builds</a:t>
            </a:r>
            <a:endParaRPr lang="en-US" sz="800" dirty="0"/>
          </a:p>
          <a:p>
            <a:pPr indent="0" marL="0">
              <a:buNone/>
            </a:pPr>
            <a:r>
              <a:rPr lang="en-US" sz="800" dirty="0">
                <a:solidFill>
                  <a:srgbClr val="1E293B"/>
                </a:solidFill>
                <a:latin typeface="Calibri" pitchFamily="34" charset="0"/>
                <a:ea typeface="Calibri" pitchFamily="34" charset="-122"/>
                <a:cs typeface="Calibri" pitchFamily="34" charset="-120"/>
              </a:rPr>
              <a:t>a structured wiki from sources.</a:t>
            </a:r>
            <a:endParaRPr lang="en-US" sz="800" dirty="0"/>
          </a:p>
          <a:p>
            <a:pPr indent="0" marL="0">
              <a:buNone/>
            </a:pPr>
            <a:r>
              <a:rPr lang="en-US" sz="800" dirty="0">
                <a:solidFill>
                  <a:srgbClr val="1E293B"/>
                </a:solidFill>
                <a:latin typeface="Calibri" pitchFamily="34" charset="0"/>
                <a:ea typeface="Calibri" pitchFamily="34" charset="-122"/>
                <a:cs typeface="Calibri" pitchFamily="34" charset="-120"/>
              </a:rPr>
              <a:t>(Mental Models · LLM Wiki)</a:t>
            </a:r>
            <a:endParaRPr lang="en-US" sz="800" dirty="0"/>
          </a:p>
        </p:txBody>
      </p:sp>
      <p:sp>
        <p:nvSpPr>
          <p:cNvPr id="16" name="Text 14"/>
          <p:cNvSpPr/>
          <p:nvPr/>
        </p:nvSpPr>
        <p:spPr>
          <a:xfrm>
            <a:off x="4023360" y="1508760"/>
            <a:ext cx="4663440" cy="411480"/>
          </a:xfrm>
          <a:prstGeom prst="rect">
            <a:avLst/>
          </a:prstGeom>
          <a:noFill/>
          <a:ln/>
        </p:spPr>
        <p:txBody>
          <a:bodyPr wrap="square" lIns="0" tIns="0" rIns="0" bIns="0" rtlCol="0" anchor="ctr"/>
          <a:lstStyle/>
          <a:p>
            <a:pPr indent="0" marL="0">
              <a:buNone/>
            </a:pPr>
            <a:r>
              <a:rPr lang="en-US" sz="2200" b="1" dirty="0">
                <a:solidFill>
                  <a:srgbClr val="1E293B"/>
                </a:solidFill>
                <a:latin typeface="Cambria" pitchFamily="34" charset="0"/>
                <a:ea typeface="Cambria" pitchFamily="34" charset="-122"/>
                <a:cs typeface="Cambria" pitchFamily="34" charset="-120"/>
              </a:rPr>
              <a:t>The finish line</a:t>
            </a:r>
            <a:endParaRPr lang="en-US" sz="2200" dirty="0"/>
          </a:p>
        </p:txBody>
      </p:sp>
      <p:sp>
        <p:nvSpPr>
          <p:cNvPr id="17" name="Shape 15"/>
          <p:cNvSpPr/>
          <p:nvPr/>
        </p:nvSpPr>
        <p:spPr>
          <a:xfrm>
            <a:off x="4023360" y="2148840"/>
            <a:ext cx="91440" cy="91440"/>
          </a:xfrm>
          <a:prstGeom prst="rect">
            <a:avLst/>
          </a:prstGeom>
          <a:solidFill>
            <a:srgbClr val="0D9488"/>
          </a:solidFill>
          <a:ln w="12700">
            <a:solidFill>
              <a:srgbClr val="0D9488"/>
            </a:solidFill>
            <a:prstDash val="solid"/>
          </a:ln>
        </p:spPr>
      </p:sp>
      <p:sp>
        <p:nvSpPr>
          <p:cNvPr id="18" name="Text 16"/>
          <p:cNvSpPr/>
          <p:nvPr/>
        </p:nvSpPr>
        <p:spPr>
          <a:xfrm>
            <a:off x="4206240" y="2057400"/>
            <a:ext cx="457200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Feed it sources. </a:t>
            </a:r>
            <a:pPr indent="0" marL="0">
              <a:buNone/>
            </a:pPr>
            <a:r>
              <a:rPr lang="en-US" sz="1200" dirty="0">
                <a:solidFill>
                  <a:srgbClr val="64748B"/>
                </a:solidFill>
                <a:latin typeface="Calibri" pitchFamily="34" charset="0"/>
                <a:ea typeface="Calibri" pitchFamily="34" charset="-122"/>
                <a:cs typeface="Calibri" pitchFamily="34" charset="-120"/>
              </a:rPr>
              <a:t>Paragraphs, articles, notes — anything.</a:t>
            </a:r>
            <a:endParaRPr lang="en-US" sz="1200" dirty="0"/>
          </a:p>
        </p:txBody>
      </p:sp>
      <p:sp>
        <p:nvSpPr>
          <p:cNvPr id="19" name="Shape 17"/>
          <p:cNvSpPr/>
          <p:nvPr/>
        </p:nvSpPr>
        <p:spPr>
          <a:xfrm>
            <a:off x="4023360" y="2743200"/>
            <a:ext cx="91440" cy="91440"/>
          </a:xfrm>
          <a:prstGeom prst="rect">
            <a:avLst/>
          </a:prstGeom>
          <a:solidFill>
            <a:srgbClr val="0D9488"/>
          </a:solidFill>
          <a:ln w="12700">
            <a:solidFill>
              <a:srgbClr val="0D9488"/>
            </a:solidFill>
            <a:prstDash val="solid"/>
          </a:ln>
        </p:spPr>
      </p:sp>
      <p:sp>
        <p:nvSpPr>
          <p:cNvPr id="20" name="Text 18"/>
          <p:cNvSpPr/>
          <p:nvPr/>
        </p:nvSpPr>
        <p:spPr>
          <a:xfrm>
            <a:off x="4206240" y="2651760"/>
            <a:ext cx="457200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It organizes them. </a:t>
            </a:r>
            <a:pPr indent="0" marL="0">
              <a:buNone/>
            </a:pPr>
            <a:r>
              <a:rPr lang="en-US" sz="1200" dirty="0">
                <a:solidFill>
                  <a:srgbClr val="64748B"/>
                </a:solidFill>
                <a:latin typeface="Calibri" pitchFamily="34" charset="0"/>
                <a:ea typeface="Calibri" pitchFamily="34" charset="-122"/>
                <a:cs typeface="Calibri" pitchFamily="34" charset="-120"/>
              </a:rPr>
              <a:t>Entities, concepts, sources, an index — by your schema.</a:t>
            </a:r>
            <a:endParaRPr lang="en-US" sz="1200" dirty="0"/>
          </a:p>
        </p:txBody>
      </p:sp>
      <p:sp>
        <p:nvSpPr>
          <p:cNvPr id="21" name="Shape 19"/>
          <p:cNvSpPr/>
          <p:nvPr/>
        </p:nvSpPr>
        <p:spPr>
          <a:xfrm>
            <a:off x="4023360" y="3337560"/>
            <a:ext cx="91440" cy="91440"/>
          </a:xfrm>
          <a:prstGeom prst="rect">
            <a:avLst/>
          </a:prstGeom>
          <a:solidFill>
            <a:srgbClr val="0D9488"/>
          </a:solidFill>
          <a:ln w="12700">
            <a:solidFill>
              <a:srgbClr val="0D9488"/>
            </a:solidFill>
            <a:prstDash val="solid"/>
          </a:ln>
        </p:spPr>
      </p:sp>
      <p:sp>
        <p:nvSpPr>
          <p:cNvPr id="22" name="Text 20"/>
          <p:cNvSpPr/>
          <p:nvPr/>
        </p:nvSpPr>
        <p:spPr>
          <a:xfrm>
            <a:off x="4206240" y="3246120"/>
            <a:ext cx="457200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Ask questions. </a:t>
            </a:r>
            <a:pPr indent="0" marL="0">
              <a:buNone/>
            </a:pPr>
            <a:r>
              <a:rPr lang="en-US" sz="1200" dirty="0">
                <a:solidFill>
                  <a:srgbClr val="64748B"/>
                </a:solidFill>
                <a:latin typeface="Calibri" pitchFamily="34" charset="0"/>
                <a:ea typeface="Calibri" pitchFamily="34" charset="-122"/>
                <a:cs typeface="Calibri" pitchFamily="34" charset="-120"/>
              </a:rPr>
              <a:t>Cited answers from YOUR curated wiki, not Wikipedia.</a:t>
            </a:r>
            <a:endParaRPr lang="en-US" sz="1200" dirty="0"/>
          </a:p>
        </p:txBody>
      </p:sp>
      <p:sp>
        <p:nvSpPr>
          <p:cNvPr id="23" name="Shape 21"/>
          <p:cNvSpPr/>
          <p:nvPr/>
        </p:nvSpPr>
        <p:spPr>
          <a:xfrm>
            <a:off x="4023360" y="3931920"/>
            <a:ext cx="91440" cy="91440"/>
          </a:xfrm>
          <a:prstGeom prst="rect">
            <a:avLst/>
          </a:prstGeom>
          <a:solidFill>
            <a:srgbClr val="0D9488"/>
          </a:solidFill>
          <a:ln w="12700">
            <a:solidFill>
              <a:srgbClr val="0D9488"/>
            </a:solidFill>
            <a:prstDash val="solid"/>
          </a:ln>
        </p:spPr>
      </p:sp>
      <p:sp>
        <p:nvSpPr>
          <p:cNvPr id="24" name="Text 22"/>
          <p:cNvSpPr/>
          <p:nvPr/>
        </p:nvSpPr>
        <p:spPr>
          <a:xfrm>
            <a:off x="4206240" y="3840480"/>
            <a:ext cx="4572000" cy="5029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It grows with you. </a:t>
            </a:r>
            <a:pPr indent="0" marL="0">
              <a:buNone/>
            </a:pPr>
            <a:r>
              <a:rPr lang="en-US" sz="1200" dirty="0">
                <a:solidFill>
                  <a:srgbClr val="64748B"/>
                </a:solidFill>
                <a:latin typeface="Calibri" pitchFamily="34" charset="0"/>
                <a:ea typeface="Calibri" pitchFamily="34" charset="-122"/>
                <a:cs typeface="Calibri" pitchFamily="34" charset="-120"/>
              </a:rPr>
              <a:t>Each ingest enriches what's already there. Compounding.</a:t>
            </a:r>
            <a:endParaRPr lang="en-US" sz="1200" dirty="0"/>
          </a:p>
        </p:txBody>
      </p:sp>
      <p:sp>
        <p:nvSpPr>
          <p:cNvPr id="26" name="Shape 23"/>
          <p:cNvSpPr/>
          <p:nvPr/>
        </p:nvSpPr>
        <p:spPr>
          <a:xfrm>
            <a:off x="457200" y="4864608"/>
            <a:ext cx="91440" cy="91440"/>
          </a:xfrm>
          <a:prstGeom prst="rect">
            <a:avLst/>
          </a:prstGeom>
          <a:solidFill>
            <a:srgbClr val="0D9488"/>
          </a:solidFill>
          <a:ln w="12700">
            <a:solidFill>
              <a:srgbClr val="0D9488"/>
            </a:solidFill>
            <a:prstDash val="solid"/>
          </a:ln>
        </p:spPr>
      </p:sp>
      <p:sp>
        <p:nvSpPr>
          <p:cNvPr id="27" name="Text 24"/>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8" name="Text 25"/>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THE PLAN</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Five activities. ~90 minutes.</a:t>
            </a:r>
            <a:endParaRPr lang="en-US" sz="3200" dirty="0"/>
          </a:p>
        </p:txBody>
      </p:sp>
      <p:sp>
        <p:nvSpPr>
          <p:cNvPr id="4" name="Shape 2"/>
          <p:cNvSpPr/>
          <p:nvPr/>
        </p:nvSpPr>
        <p:spPr>
          <a:xfrm>
            <a:off x="457200" y="1371600"/>
            <a:ext cx="640080" cy="640080"/>
          </a:xfrm>
          <a:prstGeom prst="ellipse">
            <a:avLst/>
          </a:prstGeom>
          <a:solidFill>
            <a:srgbClr val="0D9488"/>
          </a:solidFill>
          <a:ln w="12700">
            <a:solidFill>
              <a:srgbClr val="0D9488"/>
            </a:solidFill>
            <a:prstDash val="solid"/>
          </a:ln>
        </p:spPr>
      </p:sp>
      <p:sp>
        <p:nvSpPr>
          <p:cNvPr id="5" name="Text 3"/>
          <p:cNvSpPr/>
          <p:nvPr/>
        </p:nvSpPr>
        <p:spPr>
          <a:xfrm>
            <a:off x="457200" y="13716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1280160" y="1417320"/>
            <a:ext cx="7315200" cy="3200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Install</a:t>
            </a:r>
            <a:endParaRPr lang="en-US" sz="1700" dirty="0"/>
          </a:p>
        </p:txBody>
      </p:sp>
      <p:sp>
        <p:nvSpPr>
          <p:cNvPr id="7" name="Text 5"/>
          <p:cNvSpPr/>
          <p:nvPr/>
        </p:nvSpPr>
        <p:spPr>
          <a:xfrm>
            <a:off x="1280160" y="1737360"/>
            <a:ext cx="73152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Ollama (optional) + Nanobot. ~10 min.</a:t>
            </a:r>
            <a:endParaRPr lang="en-US" sz="1200" dirty="0"/>
          </a:p>
        </p:txBody>
      </p:sp>
      <p:sp>
        <p:nvSpPr>
          <p:cNvPr id="8" name="Shape 6"/>
          <p:cNvSpPr/>
          <p:nvPr/>
        </p:nvSpPr>
        <p:spPr>
          <a:xfrm>
            <a:off x="457200" y="2029968"/>
            <a:ext cx="640080" cy="640080"/>
          </a:xfrm>
          <a:prstGeom prst="ellipse">
            <a:avLst/>
          </a:prstGeom>
          <a:solidFill>
            <a:srgbClr val="0D9488"/>
          </a:solidFill>
          <a:ln w="12700">
            <a:solidFill>
              <a:srgbClr val="0D9488"/>
            </a:solidFill>
            <a:prstDash val="solid"/>
          </a:ln>
        </p:spPr>
      </p:sp>
      <p:sp>
        <p:nvSpPr>
          <p:cNvPr id="9" name="Text 7"/>
          <p:cNvSpPr/>
          <p:nvPr/>
        </p:nvSpPr>
        <p:spPr>
          <a:xfrm>
            <a:off x="457200" y="202996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ext 8"/>
          <p:cNvSpPr/>
          <p:nvPr/>
        </p:nvSpPr>
        <p:spPr>
          <a:xfrm>
            <a:off x="1280160" y="2075688"/>
            <a:ext cx="7315200" cy="3200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Configure</a:t>
            </a:r>
            <a:endParaRPr lang="en-US" sz="1700" dirty="0"/>
          </a:p>
        </p:txBody>
      </p:sp>
      <p:sp>
        <p:nvSpPr>
          <p:cNvPr id="11" name="Text 9"/>
          <p:cNvSpPr/>
          <p:nvPr/>
        </p:nvSpPr>
        <p:spPr>
          <a:xfrm>
            <a:off x="1280160" y="2395728"/>
            <a:ext cx="73152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Point nanobot at a cloud or local LLM. ~10 min.</a:t>
            </a:r>
            <a:endParaRPr lang="en-US" sz="1200" dirty="0"/>
          </a:p>
        </p:txBody>
      </p:sp>
      <p:sp>
        <p:nvSpPr>
          <p:cNvPr id="12" name="Shape 10"/>
          <p:cNvSpPr/>
          <p:nvPr/>
        </p:nvSpPr>
        <p:spPr>
          <a:xfrm>
            <a:off x="457200" y="2688336"/>
            <a:ext cx="640080" cy="640080"/>
          </a:xfrm>
          <a:prstGeom prst="ellipse">
            <a:avLst/>
          </a:prstGeom>
          <a:solidFill>
            <a:srgbClr val="0D9488"/>
          </a:solidFill>
          <a:ln w="12700">
            <a:solidFill>
              <a:srgbClr val="0D9488"/>
            </a:solidFill>
            <a:prstDash val="solid"/>
          </a:ln>
        </p:spPr>
      </p:sp>
      <p:sp>
        <p:nvSpPr>
          <p:cNvPr id="13" name="Text 11"/>
          <p:cNvSpPr/>
          <p:nvPr/>
        </p:nvSpPr>
        <p:spPr>
          <a:xfrm>
            <a:off x="457200" y="2688336"/>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4" name="Text 12"/>
          <p:cNvSpPr/>
          <p:nvPr/>
        </p:nvSpPr>
        <p:spPr>
          <a:xfrm>
            <a:off x="1280160" y="2734056"/>
            <a:ext cx="7315200" cy="3200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Telegram gateway</a:t>
            </a:r>
            <a:endParaRPr lang="en-US" sz="1700" dirty="0"/>
          </a:p>
        </p:txBody>
      </p:sp>
      <p:sp>
        <p:nvSpPr>
          <p:cNvPr id="15" name="Text 13"/>
          <p:cNvSpPr/>
          <p:nvPr/>
        </p:nvSpPr>
        <p:spPr>
          <a:xfrm>
            <a:off x="1280160" y="3054096"/>
            <a:ext cx="73152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Wire up @BotFather, route to your machine. ~15 min.</a:t>
            </a:r>
            <a:endParaRPr lang="en-US" sz="1200" dirty="0"/>
          </a:p>
        </p:txBody>
      </p:sp>
      <p:sp>
        <p:nvSpPr>
          <p:cNvPr id="16" name="Shape 14"/>
          <p:cNvSpPr/>
          <p:nvPr/>
        </p:nvSpPr>
        <p:spPr>
          <a:xfrm>
            <a:off x="457200" y="3346704"/>
            <a:ext cx="640080" cy="640080"/>
          </a:xfrm>
          <a:prstGeom prst="ellipse">
            <a:avLst/>
          </a:prstGeom>
          <a:solidFill>
            <a:srgbClr val="0D9488"/>
          </a:solidFill>
          <a:ln w="12700">
            <a:solidFill>
              <a:srgbClr val="0D9488"/>
            </a:solidFill>
            <a:prstDash val="solid"/>
          </a:ln>
        </p:spPr>
      </p:sp>
      <p:sp>
        <p:nvSpPr>
          <p:cNvPr id="17" name="Text 15"/>
          <p:cNvSpPr/>
          <p:nvPr/>
        </p:nvSpPr>
        <p:spPr>
          <a:xfrm>
            <a:off x="457200" y="334670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18" name="Text 16"/>
          <p:cNvSpPr/>
          <p:nvPr/>
        </p:nvSpPr>
        <p:spPr>
          <a:xfrm>
            <a:off x="1280160" y="3392424"/>
            <a:ext cx="7315200" cy="3200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Customize the schema</a:t>
            </a:r>
            <a:endParaRPr lang="en-US" sz="1700" dirty="0"/>
          </a:p>
        </p:txBody>
      </p:sp>
      <p:sp>
        <p:nvSpPr>
          <p:cNvPr id="19" name="Text 17"/>
          <p:cNvSpPr/>
          <p:nvPr/>
        </p:nvSpPr>
        <p:spPr>
          <a:xfrm>
            <a:off x="1280160" y="3712464"/>
            <a:ext cx="73152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Make AGENTS.md a wiki maintainer for YOUR topic. ~15 min.</a:t>
            </a:r>
            <a:endParaRPr lang="en-US" sz="1200" dirty="0"/>
          </a:p>
        </p:txBody>
      </p:sp>
      <p:sp>
        <p:nvSpPr>
          <p:cNvPr id="20" name="Shape 18"/>
          <p:cNvSpPr/>
          <p:nvPr/>
        </p:nvSpPr>
        <p:spPr>
          <a:xfrm>
            <a:off x="457200" y="4005072"/>
            <a:ext cx="640080" cy="640080"/>
          </a:xfrm>
          <a:prstGeom prst="ellipse">
            <a:avLst/>
          </a:prstGeom>
          <a:solidFill>
            <a:srgbClr val="0D9488"/>
          </a:solidFill>
          <a:ln w="12700">
            <a:solidFill>
              <a:srgbClr val="0D9488"/>
            </a:solidFill>
            <a:prstDash val="solid"/>
          </a:ln>
        </p:spPr>
      </p:sp>
      <p:sp>
        <p:nvSpPr>
          <p:cNvPr id="21" name="Text 19"/>
          <p:cNvSpPr/>
          <p:nvPr/>
        </p:nvSpPr>
        <p:spPr>
          <a:xfrm>
            <a:off x="457200" y="400507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22" name="Text 20"/>
          <p:cNvSpPr/>
          <p:nvPr/>
        </p:nvSpPr>
        <p:spPr>
          <a:xfrm>
            <a:off x="1280160" y="4050792"/>
            <a:ext cx="7315200" cy="320040"/>
          </a:xfrm>
          <a:prstGeom prst="rect">
            <a:avLst/>
          </a:prstGeom>
          <a:noFill/>
          <a:ln/>
        </p:spPr>
        <p:txBody>
          <a:bodyPr wrap="square" lIns="0" tIns="0" rIns="0" bIns="0" rtlCol="0" anchor="ctr"/>
          <a:lstStyle/>
          <a:p>
            <a:pPr indent="0" marL="0">
              <a:buNone/>
            </a:pPr>
            <a:r>
              <a:rPr lang="en-US" sz="1700" b="1" dirty="0">
                <a:solidFill>
                  <a:srgbClr val="1E293B"/>
                </a:solidFill>
                <a:latin typeface="Cambria" pitchFamily="34" charset="0"/>
                <a:ea typeface="Cambria" pitchFamily="34" charset="-122"/>
                <a:cs typeface="Cambria" pitchFamily="34" charset="-120"/>
              </a:rPr>
              <a:t>Ingest + query</a:t>
            </a:r>
            <a:endParaRPr lang="en-US" sz="1700" dirty="0"/>
          </a:p>
        </p:txBody>
      </p:sp>
      <p:sp>
        <p:nvSpPr>
          <p:cNvPr id="23" name="Text 21"/>
          <p:cNvSpPr/>
          <p:nvPr/>
        </p:nvSpPr>
        <p:spPr>
          <a:xfrm>
            <a:off x="1280160" y="4370832"/>
            <a:ext cx="73152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Feed sources, see the wiki populate. ~10 min.</a:t>
            </a:r>
            <a:endParaRPr lang="en-US" sz="1200" dirty="0"/>
          </a:p>
        </p:txBody>
      </p:sp>
      <p:sp>
        <p:nvSpPr>
          <p:cNvPr id="25" name="Shape 22"/>
          <p:cNvSpPr/>
          <p:nvPr/>
        </p:nvSpPr>
        <p:spPr>
          <a:xfrm>
            <a:off x="457200" y="4864608"/>
            <a:ext cx="91440" cy="91440"/>
          </a:xfrm>
          <a:prstGeom prst="rect">
            <a:avLst/>
          </a:prstGeom>
          <a:solidFill>
            <a:srgbClr val="0D9488"/>
          </a:solidFill>
          <a:ln w="12700">
            <a:solidFill>
              <a:srgbClr val="0D9488"/>
            </a:solidFill>
            <a:prstDash val="solid"/>
          </a:ln>
        </p:spPr>
      </p:sp>
      <p:sp>
        <p:nvSpPr>
          <p:cNvPr id="26" name="Text 23"/>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7" name="Text 24"/>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DECISION POINT</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Choose your LLM path. Stop and decide now.</a:t>
            </a:r>
            <a:endParaRPr lang="en-US" sz="3200" dirty="0"/>
          </a:p>
        </p:txBody>
      </p:sp>
      <p:sp>
        <p:nvSpPr>
          <p:cNvPr id="4" name="Shape 2"/>
          <p:cNvSpPr/>
          <p:nvPr/>
        </p:nvSpPr>
        <p:spPr>
          <a:xfrm>
            <a:off x="457200" y="1417320"/>
            <a:ext cx="4023360" cy="2788920"/>
          </a:xfrm>
          <a:prstGeom prst="rect">
            <a:avLst/>
          </a:prstGeom>
          <a:solidFill>
            <a:srgbClr val="FFFFFF"/>
          </a:solidFill>
          <a:ln w="25400">
            <a:solidFill>
              <a:srgbClr val="0D9488"/>
            </a:solidFill>
            <a:prstDash val="solid"/>
          </a:ln>
        </p:spPr>
      </p:sp>
      <p:sp>
        <p:nvSpPr>
          <p:cNvPr id="5" name="Text 3"/>
          <p:cNvSpPr/>
          <p:nvPr/>
        </p:nvSpPr>
        <p:spPr>
          <a:xfrm>
            <a:off x="640080" y="1554480"/>
            <a:ext cx="36576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PATH A</a:t>
            </a:r>
            <a:endParaRPr lang="en-US" sz="1000" dirty="0"/>
          </a:p>
        </p:txBody>
      </p:sp>
      <p:sp>
        <p:nvSpPr>
          <p:cNvPr id="6" name="Text 4"/>
          <p:cNvSpPr/>
          <p:nvPr/>
        </p:nvSpPr>
        <p:spPr>
          <a:xfrm>
            <a:off x="640080" y="1828800"/>
            <a:ext cx="3657600" cy="36576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Cloud LLM via OpenRouter</a:t>
            </a:r>
            <a:endParaRPr lang="en-US" sz="1800" dirty="0"/>
          </a:p>
        </p:txBody>
      </p:sp>
      <p:sp>
        <p:nvSpPr>
          <p:cNvPr id="7" name="Shape 5"/>
          <p:cNvSpPr/>
          <p:nvPr/>
        </p:nvSpPr>
        <p:spPr>
          <a:xfrm>
            <a:off x="685800" y="2468880"/>
            <a:ext cx="91440" cy="91440"/>
          </a:xfrm>
          <a:prstGeom prst="rect">
            <a:avLst/>
          </a:prstGeom>
          <a:solidFill>
            <a:srgbClr val="0D9488"/>
          </a:solidFill>
          <a:ln w="12700">
            <a:solidFill>
              <a:srgbClr val="0D9488"/>
            </a:solidFill>
            <a:prstDash val="solid"/>
          </a:ln>
        </p:spPr>
      </p:sp>
      <p:sp>
        <p:nvSpPr>
          <p:cNvPr id="8" name="Text 6"/>
          <p:cNvSpPr/>
          <p:nvPr/>
        </p:nvSpPr>
        <p:spPr>
          <a:xfrm>
            <a:off x="868680" y="2377440"/>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Seconds per reply</a:t>
            </a:r>
            <a:endParaRPr lang="en-US" sz="1200" dirty="0"/>
          </a:p>
        </p:txBody>
      </p:sp>
      <p:sp>
        <p:nvSpPr>
          <p:cNvPr id="9" name="Shape 7"/>
          <p:cNvSpPr/>
          <p:nvPr/>
        </p:nvSpPr>
        <p:spPr>
          <a:xfrm>
            <a:off x="685800" y="2798064"/>
            <a:ext cx="91440" cy="91440"/>
          </a:xfrm>
          <a:prstGeom prst="rect">
            <a:avLst/>
          </a:prstGeom>
          <a:solidFill>
            <a:srgbClr val="0D9488"/>
          </a:solidFill>
          <a:ln w="12700">
            <a:solidFill>
              <a:srgbClr val="0D9488"/>
            </a:solidFill>
            <a:prstDash val="solid"/>
          </a:ln>
        </p:spPr>
      </p:sp>
      <p:sp>
        <p:nvSpPr>
          <p:cNvPr id="10" name="Text 8"/>
          <p:cNvSpPr/>
          <p:nvPr/>
        </p:nvSpPr>
        <p:spPr>
          <a:xfrm>
            <a:off x="868680" y="2706624"/>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Free tier; ~$0.001/msg if paid</a:t>
            </a:r>
            <a:endParaRPr lang="en-US" sz="1200" dirty="0"/>
          </a:p>
        </p:txBody>
      </p:sp>
      <p:sp>
        <p:nvSpPr>
          <p:cNvPr id="11" name="Shape 9"/>
          <p:cNvSpPr/>
          <p:nvPr/>
        </p:nvSpPr>
        <p:spPr>
          <a:xfrm>
            <a:off x="685800" y="3127248"/>
            <a:ext cx="91440" cy="91440"/>
          </a:xfrm>
          <a:prstGeom prst="rect">
            <a:avLst/>
          </a:prstGeom>
          <a:solidFill>
            <a:srgbClr val="0D9488"/>
          </a:solidFill>
          <a:ln w="12700">
            <a:solidFill>
              <a:srgbClr val="0D9488"/>
            </a:solidFill>
            <a:prstDash val="solid"/>
          </a:ln>
        </p:spPr>
      </p:sp>
      <p:sp>
        <p:nvSpPr>
          <p:cNvPr id="12" name="Text 10"/>
          <p:cNvSpPr/>
          <p:nvPr/>
        </p:nvSpPr>
        <p:spPr>
          <a:xfrm>
            <a:off x="868680" y="3035808"/>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Prompts travel to OpenRouter</a:t>
            </a:r>
            <a:endParaRPr lang="en-US" sz="1200" dirty="0"/>
          </a:p>
        </p:txBody>
      </p:sp>
      <p:sp>
        <p:nvSpPr>
          <p:cNvPr id="13" name="Shape 11"/>
          <p:cNvSpPr/>
          <p:nvPr/>
        </p:nvSpPr>
        <p:spPr>
          <a:xfrm>
            <a:off x="685800" y="3456432"/>
            <a:ext cx="91440" cy="91440"/>
          </a:xfrm>
          <a:prstGeom prst="rect">
            <a:avLst/>
          </a:prstGeom>
          <a:solidFill>
            <a:srgbClr val="0D9488"/>
          </a:solidFill>
          <a:ln w="12700">
            <a:solidFill>
              <a:srgbClr val="0D9488"/>
            </a:solidFill>
            <a:prstDash val="solid"/>
          </a:ln>
        </p:spPr>
      </p:sp>
      <p:sp>
        <p:nvSpPr>
          <p:cNvPr id="14" name="Text 12"/>
          <p:cNvSpPr/>
          <p:nvPr/>
        </p:nvSpPr>
        <p:spPr>
          <a:xfrm>
            <a:off x="868680" y="3364992"/>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Easier setup</a:t>
            </a:r>
            <a:endParaRPr lang="en-US" sz="1200" dirty="0"/>
          </a:p>
        </p:txBody>
      </p:sp>
      <p:sp>
        <p:nvSpPr>
          <p:cNvPr id="15" name="Shape 13"/>
          <p:cNvSpPr/>
          <p:nvPr/>
        </p:nvSpPr>
        <p:spPr>
          <a:xfrm>
            <a:off x="640080" y="3611880"/>
            <a:ext cx="3657600" cy="457200"/>
          </a:xfrm>
          <a:prstGeom prst="rect">
            <a:avLst/>
          </a:prstGeom>
          <a:solidFill>
            <a:srgbClr val="CCFBF1"/>
          </a:solidFill>
          <a:ln w="12700">
            <a:solidFill>
              <a:srgbClr val="0D9488"/>
            </a:solidFill>
            <a:prstDash val="solid"/>
          </a:ln>
        </p:spPr>
      </p:sp>
      <p:sp>
        <p:nvSpPr>
          <p:cNvPr id="16" name="Text 14"/>
          <p:cNvSpPr/>
          <p:nvPr/>
        </p:nvSpPr>
        <p:spPr>
          <a:xfrm>
            <a:off x="640080" y="3611880"/>
            <a:ext cx="3657600" cy="45720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Pick this if: you want speed</a:t>
            </a:r>
            <a:endParaRPr lang="en-US" sz="1100" dirty="0"/>
          </a:p>
        </p:txBody>
      </p:sp>
      <p:sp>
        <p:nvSpPr>
          <p:cNvPr id="17" name="Shape 15"/>
          <p:cNvSpPr/>
          <p:nvPr/>
        </p:nvSpPr>
        <p:spPr>
          <a:xfrm>
            <a:off x="4663440" y="1417320"/>
            <a:ext cx="4023360" cy="2788920"/>
          </a:xfrm>
          <a:prstGeom prst="rect">
            <a:avLst/>
          </a:prstGeom>
          <a:solidFill>
            <a:srgbClr val="FFFFFF"/>
          </a:solidFill>
          <a:ln w="25400">
            <a:solidFill>
              <a:srgbClr val="0D9488"/>
            </a:solidFill>
            <a:prstDash val="solid"/>
          </a:ln>
        </p:spPr>
      </p:sp>
      <p:sp>
        <p:nvSpPr>
          <p:cNvPr id="18" name="Text 16"/>
          <p:cNvSpPr/>
          <p:nvPr/>
        </p:nvSpPr>
        <p:spPr>
          <a:xfrm>
            <a:off x="4846320" y="1554480"/>
            <a:ext cx="36576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PATH B</a:t>
            </a:r>
            <a:endParaRPr lang="en-US" sz="1000" dirty="0"/>
          </a:p>
        </p:txBody>
      </p:sp>
      <p:sp>
        <p:nvSpPr>
          <p:cNvPr id="19" name="Text 17"/>
          <p:cNvSpPr/>
          <p:nvPr/>
        </p:nvSpPr>
        <p:spPr>
          <a:xfrm>
            <a:off x="4846320" y="1828800"/>
            <a:ext cx="3657600" cy="36576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Local Ollama</a:t>
            </a:r>
            <a:endParaRPr lang="en-US" sz="1800" dirty="0"/>
          </a:p>
        </p:txBody>
      </p:sp>
      <p:sp>
        <p:nvSpPr>
          <p:cNvPr id="20" name="Shape 18"/>
          <p:cNvSpPr/>
          <p:nvPr/>
        </p:nvSpPr>
        <p:spPr>
          <a:xfrm>
            <a:off x="4892040" y="2468880"/>
            <a:ext cx="91440" cy="91440"/>
          </a:xfrm>
          <a:prstGeom prst="rect">
            <a:avLst/>
          </a:prstGeom>
          <a:solidFill>
            <a:srgbClr val="0D9488"/>
          </a:solidFill>
          <a:ln w="12700">
            <a:solidFill>
              <a:srgbClr val="0D9488"/>
            </a:solidFill>
            <a:prstDash val="solid"/>
          </a:ln>
        </p:spPr>
      </p:sp>
      <p:sp>
        <p:nvSpPr>
          <p:cNvPr id="21" name="Text 19"/>
          <p:cNvSpPr/>
          <p:nvPr/>
        </p:nvSpPr>
        <p:spPr>
          <a:xfrm>
            <a:off x="5074920" y="2377440"/>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Minutes per reply on a Pi</a:t>
            </a:r>
            <a:endParaRPr lang="en-US" sz="1200" dirty="0"/>
          </a:p>
        </p:txBody>
      </p:sp>
      <p:sp>
        <p:nvSpPr>
          <p:cNvPr id="22" name="Shape 20"/>
          <p:cNvSpPr/>
          <p:nvPr/>
        </p:nvSpPr>
        <p:spPr>
          <a:xfrm>
            <a:off x="4892040" y="2798064"/>
            <a:ext cx="91440" cy="91440"/>
          </a:xfrm>
          <a:prstGeom prst="rect">
            <a:avLst/>
          </a:prstGeom>
          <a:solidFill>
            <a:srgbClr val="0D9488"/>
          </a:solidFill>
          <a:ln w="12700">
            <a:solidFill>
              <a:srgbClr val="0D9488"/>
            </a:solidFill>
            <a:prstDash val="solid"/>
          </a:ln>
        </p:spPr>
      </p:sp>
      <p:sp>
        <p:nvSpPr>
          <p:cNvPr id="23" name="Text 21"/>
          <p:cNvSpPr/>
          <p:nvPr/>
        </p:nvSpPr>
        <p:spPr>
          <a:xfrm>
            <a:off x="5074920" y="2706624"/>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Free, no API key, no usage cost</a:t>
            </a:r>
            <a:endParaRPr lang="en-US" sz="1200" dirty="0"/>
          </a:p>
        </p:txBody>
      </p:sp>
      <p:sp>
        <p:nvSpPr>
          <p:cNvPr id="24" name="Shape 22"/>
          <p:cNvSpPr/>
          <p:nvPr/>
        </p:nvSpPr>
        <p:spPr>
          <a:xfrm>
            <a:off x="4892040" y="3127248"/>
            <a:ext cx="91440" cy="91440"/>
          </a:xfrm>
          <a:prstGeom prst="rect">
            <a:avLst/>
          </a:prstGeom>
          <a:solidFill>
            <a:srgbClr val="0D9488"/>
          </a:solidFill>
          <a:ln w="12700">
            <a:solidFill>
              <a:srgbClr val="0D9488"/>
            </a:solidFill>
            <a:prstDash val="solid"/>
          </a:ln>
        </p:spPr>
      </p:sp>
      <p:sp>
        <p:nvSpPr>
          <p:cNvPr id="25" name="Text 23"/>
          <p:cNvSpPr/>
          <p:nvPr/>
        </p:nvSpPr>
        <p:spPr>
          <a:xfrm>
            <a:off x="5074920" y="3035808"/>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Nothing leaves your machine</a:t>
            </a:r>
            <a:endParaRPr lang="en-US" sz="1200" dirty="0"/>
          </a:p>
        </p:txBody>
      </p:sp>
      <p:sp>
        <p:nvSpPr>
          <p:cNvPr id="26" name="Shape 24"/>
          <p:cNvSpPr/>
          <p:nvPr/>
        </p:nvSpPr>
        <p:spPr>
          <a:xfrm>
            <a:off x="4892040" y="3456432"/>
            <a:ext cx="91440" cy="91440"/>
          </a:xfrm>
          <a:prstGeom prst="rect">
            <a:avLst/>
          </a:prstGeom>
          <a:solidFill>
            <a:srgbClr val="0D9488"/>
          </a:solidFill>
          <a:ln w="12700">
            <a:solidFill>
              <a:srgbClr val="0D9488"/>
            </a:solidFill>
            <a:prstDash val="solid"/>
          </a:ln>
        </p:spPr>
      </p:sp>
      <p:sp>
        <p:nvSpPr>
          <p:cNvPr id="27" name="Text 25"/>
          <p:cNvSpPr/>
          <p:nvPr/>
        </p:nvSpPr>
        <p:spPr>
          <a:xfrm>
            <a:off x="5074920" y="3364992"/>
            <a:ext cx="3520440" cy="292608"/>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3-substep setup (one-time)</a:t>
            </a:r>
            <a:endParaRPr lang="en-US" sz="1200" dirty="0"/>
          </a:p>
        </p:txBody>
      </p:sp>
      <p:sp>
        <p:nvSpPr>
          <p:cNvPr id="28" name="Shape 26"/>
          <p:cNvSpPr/>
          <p:nvPr/>
        </p:nvSpPr>
        <p:spPr>
          <a:xfrm>
            <a:off x="4846320" y="3611880"/>
            <a:ext cx="3657600" cy="457200"/>
          </a:xfrm>
          <a:prstGeom prst="rect">
            <a:avLst/>
          </a:prstGeom>
          <a:solidFill>
            <a:srgbClr val="CCFBF1"/>
          </a:solidFill>
          <a:ln w="12700">
            <a:solidFill>
              <a:srgbClr val="0D9488"/>
            </a:solidFill>
            <a:prstDash val="solid"/>
          </a:ln>
        </p:spPr>
      </p:sp>
      <p:sp>
        <p:nvSpPr>
          <p:cNvPr id="29" name="Text 27"/>
          <p:cNvSpPr/>
          <p:nvPr/>
        </p:nvSpPr>
        <p:spPr>
          <a:xfrm>
            <a:off x="4846320" y="3611880"/>
            <a:ext cx="3657600" cy="457200"/>
          </a:xfrm>
          <a:prstGeom prst="rect">
            <a:avLst/>
          </a:prstGeom>
          <a:noFill/>
          <a:ln/>
        </p:spPr>
        <p:txBody>
          <a:bodyPr wrap="square" lIns="0" tIns="0" rIns="0" bIns="0" rtlCol="0" anchor="ctr"/>
          <a:lstStyle/>
          <a:p>
            <a:pPr algn="ctr" indent="0" marL="0">
              <a:buNone/>
            </a:pPr>
            <a:r>
              <a:rPr lang="en-US" sz="1100" b="1" dirty="0">
                <a:solidFill>
                  <a:srgbClr val="0D9488"/>
                </a:solidFill>
                <a:latin typeface="Calibri" pitchFamily="34" charset="0"/>
                <a:ea typeface="Calibri" pitchFamily="34" charset="-122"/>
                <a:cs typeface="Calibri" pitchFamily="34" charset="-120"/>
              </a:rPr>
              <a:t>Pick this if: privacy matters</a:t>
            </a:r>
            <a:endParaRPr lang="en-US" sz="1100" dirty="0"/>
          </a:p>
        </p:txBody>
      </p:sp>
      <p:sp>
        <p:nvSpPr>
          <p:cNvPr id="30" name="Text 28"/>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Both paths reach the same finish line. Pi users: you can do either — choose by priority.</a:t>
            </a:r>
            <a:endParaRPr lang="en-US" sz="1200" dirty="0"/>
          </a:p>
        </p:txBody>
      </p:sp>
      <p:sp>
        <p:nvSpPr>
          <p:cNvPr id="32" name="Shape 29"/>
          <p:cNvSpPr/>
          <p:nvPr/>
        </p:nvSpPr>
        <p:spPr>
          <a:xfrm>
            <a:off x="457200" y="4864608"/>
            <a:ext cx="91440" cy="91440"/>
          </a:xfrm>
          <a:prstGeom prst="rect">
            <a:avLst/>
          </a:prstGeom>
          <a:solidFill>
            <a:srgbClr val="0D9488"/>
          </a:solidFill>
          <a:ln w="12700">
            <a:solidFill>
              <a:srgbClr val="0D9488"/>
            </a:solidFill>
            <a:prstDash val="solid"/>
          </a:ln>
        </p:spPr>
      </p:sp>
      <p:sp>
        <p:nvSpPr>
          <p:cNvPr id="33" name="Text 30"/>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34" name="Text 31"/>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25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914400"/>
            <a:ext cx="3657600" cy="2286000"/>
          </a:xfrm>
          <a:prstGeom prst="rect">
            <a:avLst/>
          </a:prstGeom>
          <a:noFill/>
          <a:ln/>
        </p:spPr>
        <p:txBody>
          <a:bodyPr wrap="square" lIns="0" tIns="0" rIns="0" bIns="0" rtlCol="0" anchor="ctr"/>
          <a:lstStyle/>
          <a:p>
            <a:pPr indent="0" marL="0">
              <a:buNone/>
            </a:pPr>
            <a:r>
              <a:rPr lang="en-US" sz="22000" b="1" dirty="0">
                <a:solidFill>
                  <a:srgbClr val="0D9488"/>
                </a:solidFill>
                <a:latin typeface="Cambria" pitchFamily="34" charset="0"/>
                <a:ea typeface="Cambria" pitchFamily="34" charset="-122"/>
                <a:cs typeface="Cambria" pitchFamily="34" charset="-120"/>
              </a:rPr>
              <a:t>01</a:t>
            </a:r>
            <a:endParaRPr lang="en-US" sz="22000" dirty="0"/>
          </a:p>
        </p:txBody>
      </p:sp>
      <p:sp>
        <p:nvSpPr>
          <p:cNvPr id="3" name="Text 1"/>
          <p:cNvSpPr/>
          <p:nvPr/>
        </p:nvSpPr>
        <p:spPr>
          <a:xfrm>
            <a:off x="4114800" y="1371600"/>
            <a:ext cx="4572000" cy="365760"/>
          </a:xfrm>
          <a:prstGeom prst="rect">
            <a:avLst/>
          </a:prstGeom>
          <a:noFill/>
          <a:ln/>
        </p:spPr>
        <p:txBody>
          <a:bodyPr wrap="square" lIns="0" tIns="0" rIns="0" bIns="0" rtlCol="0" anchor="ctr"/>
          <a:lstStyle/>
          <a:p>
            <a:pPr indent="0" marL="0">
              <a:buNone/>
            </a:pPr>
            <a:r>
              <a:rPr lang="en-US" sz="1400" b="1" spc="600" kern="0" dirty="0">
                <a:solidFill>
                  <a:srgbClr val="14B8A6"/>
                </a:solidFill>
                <a:latin typeface="Calibri" pitchFamily="34" charset="0"/>
                <a:ea typeface="Calibri" pitchFamily="34" charset="-122"/>
                <a:cs typeface="Calibri" pitchFamily="34" charset="-120"/>
              </a:rPr>
              <a:t>ACTIVITY</a:t>
            </a:r>
            <a:endParaRPr lang="en-US" sz="1400" dirty="0"/>
          </a:p>
        </p:txBody>
      </p:sp>
      <p:sp>
        <p:nvSpPr>
          <p:cNvPr id="4" name="Text 2"/>
          <p:cNvSpPr/>
          <p:nvPr/>
        </p:nvSpPr>
        <p:spPr>
          <a:xfrm>
            <a:off x="4114800" y="1737360"/>
            <a:ext cx="4572000" cy="822960"/>
          </a:xfrm>
          <a:prstGeom prst="rect">
            <a:avLst/>
          </a:prstGeom>
          <a:noFill/>
          <a:ln/>
        </p:spPr>
        <p:txBody>
          <a:bodyPr wrap="square" lIns="0" tIns="0" rIns="0" bIns="0" rtlCol="0" anchor="ctr"/>
          <a:lstStyle/>
          <a:p>
            <a:pPr indent="0" marL="0">
              <a:buNone/>
            </a:pPr>
            <a:r>
              <a:rPr lang="en-US" sz="3600" b="1" dirty="0">
                <a:solidFill>
                  <a:srgbClr val="F1F5F9"/>
                </a:solidFill>
                <a:latin typeface="Cambria" pitchFamily="34" charset="0"/>
                <a:ea typeface="Cambria" pitchFamily="34" charset="-122"/>
                <a:cs typeface="Cambria" pitchFamily="34" charset="-120"/>
              </a:rPr>
              <a:t>Install</a:t>
            </a:r>
            <a:endParaRPr lang="en-US" sz="3600" dirty="0"/>
          </a:p>
        </p:txBody>
      </p:sp>
      <p:sp>
        <p:nvSpPr>
          <p:cNvPr id="5" name="Text 3"/>
          <p:cNvSpPr/>
          <p:nvPr/>
        </p:nvSpPr>
        <p:spPr>
          <a:xfrm>
            <a:off x="4114800" y="2606040"/>
            <a:ext cx="4572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Ollama (optional) + Nanobot + workspace</a:t>
            </a:r>
            <a:endParaRPr lang="en-US" sz="1400" dirty="0"/>
          </a:p>
        </p:txBody>
      </p:sp>
      <p:sp>
        <p:nvSpPr>
          <p:cNvPr id="6" name="Text 4"/>
          <p:cNvSpPr/>
          <p:nvPr/>
        </p:nvSpPr>
        <p:spPr>
          <a:xfrm>
            <a:off x="4114800" y="3063240"/>
            <a:ext cx="4572000" cy="274320"/>
          </a:xfrm>
          <a:prstGeom prst="rect">
            <a:avLst/>
          </a:prstGeom>
          <a:noFill/>
          <a:ln/>
        </p:spPr>
        <p:txBody>
          <a:bodyPr wrap="square" lIns="0" tIns="0" rIns="0" bIns="0"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~10 min · mostly waiting for downloads</a:t>
            </a:r>
            <a:endParaRPr lang="en-US" sz="1200" dirty="0"/>
          </a:p>
        </p:txBody>
      </p:sp>
      <p:sp>
        <p:nvSpPr>
          <p:cNvPr id="7" name="Shape 5"/>
          <p:cNvSpPr/>
          <p:nvPr/>
        </p:nvSpPr>
        <p:spPr>
          <a:xfrm>
            <a:off x="457200" y="4114800"/>
            <a:ext cx="8229600" cy="502920"/>
          </a:xfrm>
          <a:prstGeom prst="rect">
            <a:avLst/>
          </a:prstGeom>
          <a:solidFill>
            <a:srgbClr val="1E293B"/>
          </a:solidFill>
          <a:ln w="12700">
            <a:solidFill>
              <a:srgbClr val="0D9488"/>
            </a:solidFill>
            <a:prstDash val="solid"/>
          </a:ln>
        </p:spPr>
      </p:sp>
      <p:sp>
        <p:nvSpPr>
          <p:cNvPr id="8" name="Text 6"/>
          <p:cNvSpPr/>
          <p:nvPr/>
        </p:nvSpPr>
        <p:spPr>
          <a:xfrm>
            <a:off x="457200" y="4114800"/>
            <a:ext cx="8229600" cy="502920"/>
          </a:xfrm>
          <a:prstGeom prst="rect">
            <a:avLst/>
          </a:prstGeom>
          <a:noFill/>
          <a:ln/>
        </p:spPr>
        <p:txBody>
          <a:bodyPr wrap="square" lIns="0" tIns="0" rIns="0" bIns="0" rtlCol="0" anchor="ctr"/>
          <a:lstStyle/>
          <a:p>
            <a:pPr algn="ctr" indent="0" marL="0">
              <a:buNone/>
            </a:pPr>
            <a:r>
              <a:rPr lang="en-US" sz="1200" i="1" dirty="0">
                <a:solidFill>
                  <a:srgbClr val="F1F5F9"/>
                </a:solidFill>
                <a:latin typeface="Calibri" pitchFamily="34" charset="0"/>
                <a:ea typeface="Calibri" pitchFamily="34" charset="-122"/>
                <a:cs typeface="Calibri" pitchFamily="34" charset="-120"/>
              </a:rPr>
              <a:t>👉  Open the worksheet, follow Activity 1. Return when you hit ✅</a:t>
            </a:r>
            <a:endParaRPr lang="en-US" sz="1200" dirty="0"/>
          </a:p>
        </p:txBody>
      </p:sp>
      <p:sp>
        <p:nvSpPr>
          <p:cNvPr id="10" name="Shape 7"/>
          <p:cNvSpPr/>
          <p:nvPr/>
        </p:nvSpPr>
        <p:spPr>
          <a:xfrm>
            <a:off x="457200" y="4864608"/>
            <a:ext cx="91440" cy="91440"/>
          </a:xfrm>
          <a:prstGeom prst="rect">
            <a:avLst/>
          </a:prstGeom>
          <a:solidFill>
            <a:srgbClr val="0D9488"/>
          </a:solidFill>
          <a:ln w="12700">
            <a:solidFill>
              <a:srgbClr val="0D9488"/>
            </a:solidFill>
            <a:prstDash val="solid"/>
          </a:ln>
        </p:spPr>
      </p:sp>
      <p:sp>
        <p:nvSpPr>
          <p:cNvPr id="11" name="Text 8"/>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2" name="Text 9"/>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10 / 25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ACTIVITY 1 · CONCEPT</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Two pieces. Different jobs.</a:t>
            </a:r>
            <a:endParaRPr lang="en-US" sz="3200" dirty="0"/>
          </a:p>
        </p:txBody>
      </p:sp>
      <p:sp>
        <p:nvSpPr>
          <p:cNvPr id="4" name="Shape 2"/>
          <p:cNvSpPr/>
          <p:nvPr/>
        </p:nvSpPr>
        <p:spPr>
          <a:xfrm>
            <a:off x="457200" y="1463040"/>
            <a:ext cx="4023360" cy="2743200"/>
          </a:xfrm>
          <a:prstGeom prst="rect">
            <a:avLst/>
          </a:prstGeom>
          <a:solidFill>
            <a:srgbClr val="FFFFFF"/>
          </a:solidFill>
          <a:ln w="12700">
            <a:solidFill>
              <a:srgbClr val="E2E8F0"/>
            </a:solidFill>
            <a:prstDash val="solid"/>
          </a:ln>
        </p:spPr>
      </p:sp>
      <p:sp>
        <p:nvSpPr>
          <p:cNvPr id="5" name="Shape 3"/>
          <p:cNvSpPr/>
          <p:nvPr/>
        </p:nvSpPr>
        <p:spPr>
          <a:xfrm>
            <a:off x="457200" y="1463040"/>
            <a:ext cx="73152" cy="2743200"/>
          </a:xfrm>
          <a:prstGeom prst="rect">
            <a:avLst/>
          </a:prstGeom>
          <a:solidFill>
            <a:srgbClr val="64748B"/>
          </a:solidFill>
          <a:ln w="12700">
            <a:solidFill>
              <a:srgbClr val="64748B"/>
            </a:solidFill>
            <a:prstDash val="solid"/>
          </a:ln>
        </p:spPr>
      </p:sp>
      <p:sp>
        <p:nvSpPr>
          <p:cNvPr id="6" name="Text 4"/>
          <p:cNvSpPr/>
          <p:nvPr/>
        </p:nvSpPr>
        <p:spPr>
          <a:xfrm>
            <a:off x="685800" y="1600200"/>
            <a:ext cx="3657600" cy="320040"/>
          </a:xfrm>
          <a:prstGeom prst="rect">
            <a:avLst/>
          </a:prstGeom>
          <a:noFill/>
          <a:ln/>
        </p:spPr>
        <p:txBody>
          <a:bodyPr wrap="square" lIns="0" tIns="0" rIns="0" bIns="0" rtlCol="0" anchor="ctr"/>
          <a:lstStyle/>
          <a:p>
            <a:pPr indent="0" marL="0">
              <a:buNone/>
            </a:pPr>
            <a:r>
              <a:rPr lang="en-US" sz="1100" b="1" spc="400" kern="0" dirty="0">
                <a:solidFill>
                  <a:srgbClr val="64748B"/>
                </a:solidFill>
                <a:latin typeface="Calibri" pitchFamily="34" charset="0"/>
                <a:ea typeface="Calibri" pitchFamily="34" charset="-122"/>
                <a:cs typeface="Calibri" pitchFamily="34" charset="-120"/>
              </a:rPr>
              <a:t>OLLAMA</a:t>
            </a:r>
            <a:endParaRPr lang="en-US" sz="1100" dirty="0"/>
          </a:p>
        </p:txBody>
      </p:sp>
      <p:sp>
        <p:nvSpPr>
          <p:cNvPr id="7" name="Text 5"/>
          <p:cNvSpPr/>
          <p:nvPr/>
        </p:nvSpPr>
        <p:spPr>
          <a:xfrm>
            <a:off x="685800" y="1920240"/>
            <a:ext cx="3657600" cy="411480"/>
          </a:xfrm>
          <a:prstGeom prst="rect">
            <a:avLst/>
          </a:prstGeom>
          <a:noFill/>
          <a:ln/>
        </p:spPr>
        <p:txBody>
          <a:bodyPr wrap="square" lIns="0" tIns="0" rIns="0" bIns="0" rtlCol="0" anchor="ctr"/>
          <a:lstStyle/>
          <a:p>
            <a:pPr indent="0" marL="0">
              <a:buNone/>
            </a:pPr>
            <a:r>
              <a:rPr lang="en-US" sz="2200" b="1" dirty="0">
                <a:solidFill>
                  <a:srgbClr val="1E293B"/>
                </a:solidFill>
                <a:latin typeface="Cambria" pitchFamily="34" charset="0"/>
                <a:ea typeface="Cambria" pitchFamily="34" charset="-122"/>
                <a:cs typeface="Cambria" pitchFamily="34" charset="-120"/>
              </a:rPr>
              <a:t>The AI engine</a:t>
            </a:r>
            <a:endParaRPr lang="en-US" sz="2200" dirty="0"/>
          </a:p>
        </p:txBody>
      </p:sp>
      <p:sp>
        <p:nvSpPr>
          <p:cNvPr id="8" name="Text 6"/>
          <p:cNvSpPr/>
          <p:nvPr/>
        </p:nvSpPr>
        <p:spPr>
          <a:xfrm>
            <a:off x="685800" y="2423160"/>
            <a:ext cx="3657600" cy="6400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Loads model weights into RAM and answers prompts. One job. Does it well.</a:t>
            </a:r>
            <a:endParaRPr lang="en-US" sz="1300" dirty="0"/>
          </a:p>
        </p:txBody>
      </p:sp>
      <p:sp>
        <p:nvSpPr>
          <p:cNvPr id="9" name="Shape 7"/>
          <p:cNvSpPr/>
          <p:nvPr/>
        </p:nvSpPr>
        <p:spPr>
          <a:xfrm>
            <a:off x="685800" y="3200400"/>
            <a:ext cx="3657600" cy="640080"/>
          </a:xfrm>
          <a:prstGeom prst="rect">
            <a:avLst/>
          </a:prstGeom>
          <a:solidFill>
            <a:srgbClr val="F8FAFC"/>
          </a:solidFill>
          <a:ln w="12700">
            <a:solidFill>
              <a:srgbClr val="E2E8F0"/>
            </a:solidFill>
            <a:prstDash val="solid"/>
          </a:ln>
        </p:spPr>
      </p:sp>
      <p:sp>
        <p:nvSpPr>
          <p:cNvPr id="10" name="Text 8"/>
          <p:cNvSpPr/>
          <p:nvPr/>
        </p:nvSpPr>
        <p:spPr>
          <a:xfrm>
            <a:off x="777240" y="3200400"/>
            <a:ext cx="3474720" cy="64008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Skip if you're going cloud-only.</a:t>
            </a:r>
            <a:endParaRPr lang="en-US" sz="1100" dirty="0"/>
          </a:p>
        </p:txBody>
      </p:sp>
      <p:sp>
        <p:nvSpPr>
          <p:cNvPr id="11" name="Shape 9"/>
          <p:cNvSpPr/>
          <p:nvPr/>
        </p:nvSpPr>
        <p:spPr>
          <a:xfrm>
            <a:off x="4663440" y="1463040"/>
            <a:ext cx="4023360" cy="2743200"/>
          </a:xfrm>
          <a:prstGeom prst="rect">
            <a:avLst/>
          </a:prstGeom>
          <a:solidFill>
            <a:srgbClr val="FFFFFF"/>
          </a:solidFill>
          <a:ln w="25400">
            <a:solidFill>
              <a:srgbClr val="0D9488"/>
            </a:solidFill>
            <a:prstDash val="solid"/>
          </a:ln>
        </p:spPr>
      </p:sp>
      <p:sp>
        <p:nvSpPr>
          <p:cNvPr id="12" name="Shape 10"/>
          <p:cNvSpPr/>
          <p:nvPr/>
        </p:nvSpPr>
        <p:spPr>
          <a:xfrm>
            <a:off x="4663440" y="1463040"/>
            <a:ext cx="73152" cy="2743200"/>
          </a:xfrm>
          <a:prstGeom prst="rect">
            <a:avLst/>
          </a:prstGeom>
          <a:solidFill>
            <a:srgbClr val="0D9488"/>
          </a:solidFill>
          <a:ln w="12700">
            <a:solidFill>
              <a:srgbClr val="0D9488"/>
            </a:solidFill>
            <a:prstDash val="solid"/>
          </a:ln>
        </p:spPr>
      </p:sp>
      <p:sp>
        <p:nvSpPr>
          <p:cNvPr id="13" name="Text 11"/>
          <p:cNvSpPr/>
          <p:nvPr/>
        </p:nvSpPr>
        <p:spPr>
          <a:xfrm>
            <a:off x="4892040" y="1600200"/>
            <a:ext cx="3657600" cy="320040"/>
          </a:xfrm>
          <a:prstGeom prst="rect">
            <a:avLst/>
          </a:prstGeom>
          <a:noFill/>
          <a:ln/>
        </p:spPr>
        <p:txBody>
          <a:bodyPr wrap="square" lIns="0" tIns="0" rIns="0" bIns="0" rtlCol="0" anchor="ctr"/>
          <a:lstStyle/>
          <a:p>
            <a:pPr indent="0" marL="0">
              <a:buNone/>
            </a:pPr>
            <a:r>
              <a:rPr lang="en-US" sz="1100" b="1" spc="400" kern="0" dirty="0">
                <a:solidFill>
                  <a:srgbClr val="0D9488"/>
                </a:solidFill>
                <a:latin typeface="Calibri" pitchFamily="34" charset="0"/>
                <a:ea typeface="Calibri" pitchFamily="34" charset="-122"/>
                <a:cs typeface="Calibri" pitchFamily="34" charset="-120"/>
              </a:rPr>
              <a:t>NANOBOT</a:t>
            </a:r>
            <a:endParaRPr lang="en-US" sz="1100" dirty="0"/>
          </a:p>
        </p:txBody>
      </p:sp>
      <p:sp>
        <p:nvSpPr>
          <p:cNvPr id="14" name="Text 12"/>
          <p:cNvSpPr/>
          <p:nvPr/>
        </p:nvSpPr>
        <p:spPr>
          <a:xfrm>
            <a:off x="4892040" y="1920240"/>
            <a:ext cx="3657600" cy="411480"/>
          </a:xfrm>
          <a:prstGeom prst="rect">
            <a:avLst/>
          </a:prstGeom>
          <a:noFill/>
          <a:ln/>
        </p:spPr>
        <p:txBody>
          <a:bodyPr wrap="square" lIns="0" tIns="0" rIns="0" bIns="0" rtlCol="0" anchor="ctr"/>
          <a:lstStyle/>
          <a:p>
            <a:pPr indent="0" marL="0">
              <a:buNone/>
            </a:pPr>
            <a:r>
              <a:rPr lang="en-US" sz="2200" b="1" dirty="0">
                <a:solidFill>
                  <a:srgbClr val="1E293B"/>
                </a:solidFill>
                <a:latin typeface="Cambria" pitchFamily="34" charset="0"/>
                <a:ea typeface="Cambria" pitchFamily="34" charset="-122"/>
                <a:cs typeface="Cambria" pitchFamily="34" charset="-120"/>
              </a:rPr>
              <a:t>The agent loop</a:t>
            </a:r>
            <a:endParaRPr lang="en-US" sz="2200" dirty="0"/>
          </a:p>
        </p:txBody>
      </p:sp>
      <p:sp>
        <p:nvSpPr>
          <p:cNvPr id="15" name="Text 13"/>
          <p:cNvSpPr/>
          <p:nvPr/>
        </p:nvSpPr>
        <p:spPr>
          <a:xfrm>
            <a:off x="4892040" y="2423160"/>
            <a:ext cx="3657600" cy="9144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Reads AGENTS.md. Calls tools. Writes to MEMORY.md. Talks to Telegram (and other channels). The brain of the operation.</a:t>
            </a:r>
            <a:endParaRPr lang="en-US" sz="1300" dirty="0"/>
          </a:p>
        </p:txBody>
      </p:sp>
      <p:sp>
        <p:nvSpPr>
          <p:cNvPr id="16" name="Shape 14"/>
          <p:cNvSpPr/>
          <p:nvPr/>
        </p:nvSpPr>
        <p:spPr>
          <a:xfrm>
            <a:off x="4892040" y="3474720"/>
            <a:ext cx="3657600" cy="640080"/>
          </a:xfrm>
          <a:prstGeom prst="rect">
            <a:avLst/>
          </a:prstGeom>
          <a:solidFill>
            <a:srgbClr val="CCFBF1"/>
          </a:solidFill>
          <a:ln w="12700">
            <a:solidFill>
              <a:srgbClr val="0D9488"/>
            </a:solidFill>
            <a:prstDash val="solid"/>
          </a:ln>
        </p:spPr>
      </p:sp>
      <p:sp>
        <p:nvSpPr>
          <p:cNvPr id="17" name="Text 15"/>
          <p:cNvSpPr/>
          <p:nvPr/>
        </p:nvSpPr>
        <p:spPr>
          <a:xfrm>
            <a:off x="4983480" y="3474720"/>
            <a:ext cx="3474720" cy="64008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Required, regardless of LLM path.</a:t>
            </a:r>
            <a:endParaRPr lang="en-US" sz="1100" dirty="0"/>
          </a:p>
        </p:txBody>
      </p:sp>
      <p:sp>
        <p:nvSpPr>
          <p:cNvPr id="18" name="Text 16"/>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After this activity: both installed, nothing connected yet. That's normal.</a:t>
            </a:r>
            <a:endParaRPr lang="en-US" sz="1200" dirty="0"/>
          </a:p>
        </p:txBody>
      </p:sp>
      <p:sp>
        <p:nvSpPr>
          <p:cNvPr id="20" name="Shape 17"/>
          <p:cNvSpPr/>
          <p:nvPr/>
        </p:nvSpPr>
        <p:spPr>
          <a:xfrm>
            <a:off x="457200" y="4864608"/>
            <a:ext cx="91440" cy="91440"/>
          </a:xfrm>
          <a:prstGeom prst="rect">
            <a:avLst/>
          </a:prstGeom>
          <a:solidFill>
            <a:srgbClr val="0D9488"/>
          </a:solidFill>
          <a:ln w="12700">
            <a:solidFill>
              <a:srgbClr val="0D9488"/>
            </a:solidFill>
            <a:prstDash val="solid"/>
          </a:ln>
        </p:spPr>
      </p:sp>
      <p:sp>
        <p:nvSpPr>
          <p:cNvPr id="21" name="Text 18"/>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2" name="Text 19"/>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 / 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914400"/>
            <a:ext cx="3657600" cy="2286000"/>
          </a:xfrm>
          <a:prstGeom prst="rect">
            <a:avLst/>
          </a:prstGeom>
          <a:noFill/>
          <a:ln/>
        </p:spPr>
        <p:txBody>
          <a:bodyPr wrap="square" lIns="0" tIns="0" rIns="0" bIns="0" rtlCol="0" anchor="ctr"/>
          <a:lstStyle/>
          <a:p>
            <a:pPr indent="0" marL="0">
              <a:buNone/>
            </a:pPr>
            <a:r>
              <a:rPr lang="en-US" sz="22000" b="1" dirty="0">
                <a:solidFill>
                  <a:srgbClr val="0D9488"/>
                </a:solidFill>
                <a:latin typeface="Cambria" pitchFamily="34" charset="0"/>
                <a:ea typeface="Cambria" pitchFamily="34" charset="-122"/>
                <a:cs typeface="Cambria" pitchFamily="34" charset="-120"/>
              </a:rPr>
              <a:t>02</a:t>
            </a:r>
            <a:endParaRPr lang="en-US" sz="22000" dirty="0"/>
          </a:p>
        </p:txBody>
      </p:sp>
      <p:sp>
        <p:nvSpPr>
          <p:cNvPr id="3" name="Text 1"/>
          <p:cNvSpPr/>
          <p:nvPr/>
        </p:nvSpPr>
        <p:spPr>
          <a:xfrm>
            <a:off x="4114800" y="1371600"/>
            <a:ext cx="4572000" cy="365760"/>
          </a:xfrm>
          <a:prstGeom prst="rect">
            <a:avLst/>
          </a:prstGeom>
          <a:noFill/>
          <a:ln/>
        </p:spPr>
        <p:txBody>
          <a:bodyPr wrap="square" lIns="0" tIns="0" rIns="0" bIns="0" rtlCol="0" anchor="ctr"/>
          <a:lstStyle/>
          <a:p>
            <a:pPr indent="0" marL="0">
              <a:buNone/>
            </a:pPr>
            <a:r>
              <a:rPr lang="en-US" sz="1400" b="1" spc="600" kern="0" dirty="0">
                <a:solidFill>
                  <a:srgbClr val="14B8A6"/>
                </a:solidFill>
                <a:latin typeface="Calibri" pitchFamily="34" charset="0"/>
                <a:ea typeface="Calibri" pitchFamily="34" charset="-122"/>
                <a:cs typeface="Calibri" pitchFamily="34" charset="-120"/>
              </a:rPr>
              <a:t>ACTIVITY</a:t>
            </a:r>
            <a:endParaRPr lang="en-US" sz="1400" dirty="0"/>
          </a:p>
        </p:txBody>
      </p:sp>
      <p:sp>
        <p:nvSpPr>
          <p:cNvPr id="4" name="Text 2"/>
          <p:cNvSpPr/>
          <p:nvPr/>
        </p:nvSpPr>
        <p:spPr>
          <a:xfrm>
            <a:off x="4114800" y="1737360"/>
            <a:ext cx="4572000" cy="822960"/>
          </a:xfrm>
          <a:prstGeom prst="rect">
            <a:avLst/>
          </a:prstGeom>
          <a:noFill/>
          <a:ln/>
        </p:spPr>
        <p:txBody>
          <a:bodyPr wrap="square" lIns="0" tIns="0" rIns="0" bIns="0" rtlCol="0" anchor="ctr"/>
          <a:lstStyle/>
          <a:p>
            <a:pPr indent="0" marL="0">
              <a:buNone/>
            </a:pPr>
            <a:r>
              <a:rPr lang="en-US" sz="3600" b="1" dirty="0">
                <a:solidFill>
                  <a:srgbClr val="F1F5F9"/>
                </a:solidFill>
                <a:latin typeface="Cambria" pitchFamily="34" charset="0"/>
                <a:ea typeface="Cambria" pitchFamily="34" charset="-122"/>
                <a:cs typeface="Cambria" pitchFamily="34" charset="-120"/>
              </a:rPr>
              <a:t>Configure</a:t>
            </a:r>
            <a:endParaRPr lang="en-US" sz="3600" dirty="0"/>
          </a:p>
        </p:txBody>
      </p:sp>
      <p:sp>
        <p:nvSpPr>
          <p:cNvPr id="5" name="Text 3"/>
          <p:cNvSpPr/>
          <p:nvPr/>
        </p:nvSpPr>
        <p:spPr>
          <a:xfrm>
            <a:off x="4114800" y="2606040"/>
            <a:ext cx="4572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Tell nanobot which LLM to use + first chat</a:t>
            </a:r>
            <a:endParaRPr lang="en-US" sz="1400" dirty="0"/>
          </a:p>
        </p:txBody>
      </p:sp>
      <p:sp>
        <p:nvSpPr>
          <p:cNvPr id="6" name="Text 4"/>
          <p:cNvSpPr/>
          <p:nvPr/>
        </p:nvSpPr>
        <p:spPr>
          <a:xfrm>
            <a:off x="4114800" y="3063240"/>
            <a:ext cx="4572000" cy="274320"/>
          </a:xfrm>
          <a:prstGeom prst="rect">
            <a:avLst/>
          </a:prstGeom>
          <a:noFill/>
          <a:ln/>
        </p:spPr>
        <p:txBody>
          <a:bodyPr wrap="square" lIns="0" tIns="0" rIns="0" bIns="0"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~10 min (Path A) or ~15 min (Path B)</a:t>
            </a:r>
            <a:endParaRPr lang="en-US" sz="1200" dirty="0"/>
          </a:p>
        </p:txBody>
      </p:sp>
      <p:sp>
        <p:nvSpPr>
          <p:cNvPr id="7" name="Shape 5"/>
          <p:cNvSpPr/>
          <p:nvPr/>
        </p:nvSpPr>
        <p:spPr>
          <a:xfrm>
            <a:off x="457200" y="4114800"/>
            <a:ext cx="8229600" cy="502920"/>
          </a:xfrm>
          <a:prstGeom prst="rect">
            <a:avLst/>
          </a:prstGeom>
          <a:solidFill>
            <a:srgbClr val="1E293B"/>
          </a:solidFill>
          <a:ln w="12700">
            <a:solidFill>
              <a:srgbClr val="0D9488"/>
            </a:solidFill>
            <a:prstDash val="solid"/>
          </a:ln>
        </p:spPr>
      </p:sp>
      <p:sp>
        <p:nvSpPr>
          <p:cNvPr id="8" name="Text 6"/>
          <p:cNvSpPr/>
          <p:nvPr/>
        </p:nvSpPr>
        <p:spPr>
          <a:xfrm>
            <a:off x="457200" y="4114800"/>
            <a:ext cx="8229600" cy="502920"/>
          </a:xfrm>
          <a:prstGeom prst="rect">
            <a:avLst/>
          </a:prstGeom>
          <a:noFill/>
          <a:ln/>
        </p:spPr>
        <p:txBody>
          <a:bodyPr wrap="square" lIns="0" tIns="0" rIns="0" bIns="0" rtlCol="0" anchor="ctr"/>
          <a:lstStyle/>
          <a:p>
            <a:pPr algn="ctr" indent="0" marL="0">
              <a:buNone/>
            </a:pPr>
            <a:r>
              <a:rPr lang="en-US" sz="1200" i="1" dirty="0">
                <a:solidFill>
                  <a:srgbClr val="F1F5F9"/>
                </a:solidFill>
                <a:latin typeface="Calibri" pitchFamily="34" charset="0"/>
                <a:ea typeface="Calibri" pitchFamily="34" charset="-122"/>
                <a:cs typeface="Calibri" pitchFamily="34" charset="-120"/>
              </a:rPr>
              <a:t>👉  Open the worksheet, follow Activity 2. Return when you hit ✅</a:t>
            </a:r>
            <a:endParaRPr lang="en-US" sz="1200" dirty="0"/>
          </a:p>
        </p:txBody>
      </p:sp>
      <p:sp>
        <p:nvSpPr>
          <p:cNvPr id="10" name="Shape 7"/>
          <p:cNvSpPr/>
          <p:nvPr/>
        </p:nvSpPr>
        <p:spPr>
          <a:xfrm>
            <a:off x="457200" y="4864608"/>
            <a:ext cx="91440" cy="91440"/>
          </a:xfrm>
          <a:prstGeom prst="rect">
            <a:avLst/>
          </a:prstGeom>
          <a:solidFill>
            <a:srgbClr val="0D9488"/>
          </a:solidFill>
          <a:ln w="12700">
            <a:solidFill>
              <a:srgbClr val="0D9488"/>
            </a:solidFill>
            <a:prstDash val="solid"/>
          </a:ln>
        </p:spPr>
      </p:sp>
      <p:sp>
        <p:nvSpPr>
          <p:cNvPr id="11" name="Text 8"/>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2" name="Text 9"/>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12 / 25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ACTIVITY 2 · THE PRINCIPLE</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Always sanity-test the LLM directly, first.</a:t>
            </a:r>
            <a:endParaRPr lang="en-US" sz="3200" dirty="0"/>
          </a:p>
        </p:txBody>
      </p:sp>
      <p:sp>
        <p:nvSpPr>
          <p:cNvPr id="4" name="Shape 2"/>
          <p:cNvSpPr/>
          <p:nvPr/>
        </p:nvSpPr>
        <p:spPr>
          <a:xfrm>
            <a:off x="457200" y="1417320"/>
            <a:ext cx="8229600" cy="1737360"/>
          </a:xfrm>
          <a:prstGeom prst="rect">
            <a:avLst/>
          </a:prstGeom>
          <a:solidFill>
            <a:srgbClr val="F8FAFC"/>
          </a:solidFill>
          <a:ln w="12700">
            <a:solidFill>
              <a:srgbClr val="E2E8F0"/>
            </a:solidFill>
            <a:prstDash val="solid"/>
          </a:ln>
        </p:spPr>
      </p:sp>
      <p:sp>
        <p:nvSpPr>
          <p:cNvPr id="5" name="Text 3"/>
          <p:cNvSpPr/>
          <p:nvPr/>
        </p:nvSpPr>
        <p:spPr>
          <a:xfrm>
            <a:off x="640080" y="1645920"/>
            <a:ext cx="548640" cy="548640"/>
          </a:xfrm>
          <a:prstGeom prst="rect">
            <a:avLst/>
          </a:prstGeom>
          <a:noFill/>
          <a:ln/>
        </p:spPr>
        <p:txBody>
          <a:bodyPr wrap="square" lIns="0" tIns="0" rIns="0" bIns="0" rtlCol="0" anchor="ctr"/>
          <a:lstStyle/>
          <a:p>
            <a:pPr indent="0" marL="0">
              <a:buNone/>
            </a:pPr>
            <a:r>
              <a:rPr lang="en-US" sz="3600" b="1" dirty="0">
                <a:solidFill>
                  <a:srgbClr val="0D9488"/>
                </a:solidFill>
                <a:latin typeface="Cambria" pitchFamily="34" charset="0"/>
                <a:ea typeface="Cambria" pitchFamily="34" charset="-122"/>
                <a:cs typeface="Cambria" pitchFamily="34" charset="-120"/>
              </a:rPr>
              <a:t>1</a:t>
            </a:r>
            <a:endParaRPr lang="en-US" sz="3600" dirty="0"/>
          </a:p>
        </p:txBody>
      </p:sp>
      <p:sp>
        <p:nvSpPr>
          <p:cNvPr id="6" name="Text 4"/>
          <p:cNvSpPr/>
          <p:nvPr/>
        </p:nvSpPr>
        <p:spPr>
          <a:xfrm>
            <a:off x="1280160" y="1600200"/>
            <a:ext cx="7315200" cy="36576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Hit the LLM endpoint directly</a:t>
            </a:r>
            <a:endParaRPr lang="en-US" sz="1800" dirty="0"/>
          </a:p>
        </p:txBody>
      </p:sp>
      <p:sp>
        <p:nvSpPr>
          <p:cNvPr id="7" name="Text 5"/>
          <p:cNvSpPr/>
          <p:nvPr/>
        </p:nvSpPr>
        <p:spPr>
          <a:xfrm>
            <a:off x="1280160" y="2057400"/>
            <a:ext cx="7315200" cy="365760"/>
          </a:xfrm>
          <a:prstGeom prst="rect">
            <a:avLst/>
          </a:prstGeom>
          <a:noFill/>
          <a:ln/>
        </p:spPr>
        <p:txBody>
          <a:bodyPr wrap="square" lIns="0" tIns="0" rIns="0" bIns="0" rtlCol="0" anchor="ctr"/>
          <a:lstStyle/>
          <a:p>
            <a:pPr indent="0" marL="0">
              <a:buNone/>
            </a:pPr>
            <a:r>
              <a:rPr lang="en-US" sz="1200" b="1" dirty="0">
                <a:solidFill>
                  <a:srgbClr val="64748B"/>
                </a:solidFill>
              </a:rPr>
              <a:t>Cloud: </a:t>
            </a:r>
            <a:pPr indent="0" marL="0">
              <a:buNone/>
            </a:pPr>
            <a:r>
              <a:rPr lang="en-US" sz="1200" dirty="0">
                <a:solidFill>
                  <a:srgbClr val="1E293B"/>
                </a:solidFill>
                <a:latin typeface="Consolas" pitchFamily="34" charset="0"/>
                <a:ea typeface="Consolas" pitchFamily="34" charset="-122"/>
                <a:cs typeface="Consolas" pitchFamily="34" charset="-120"/>
              </a:rPr>
              <a:t>curl https://openrouter.ai/api/v1/chat/completions ...</a:t>
            </a:r>
            <a:endParaRPr lang="en-US" sz="1200" dirty="0"/>
          </a:p>
        </p:txBody>
      </p:sp>
      <p:sp>
        <p:nvSpPr>
          <p:cNvPr id="8" name="Text 6"/>
          <p:cNvSpPr/>
          <p:nvPr/>
        </p:nvSpPr>
        <p:spPr>
          <a:xfrm>
            <a:off x="1280160" y="2423160"/>
            <a:ext cx="7315200" cy="365760"/>
          </a:xfrm>
          <a:prstGeom prst="rect">
            <a:avLst/>
          </a:prstGeom>
          <a:noFill/>
          <a:ln/>
        </p:spPr>
        <p:txBody>
          <a:bodyPr wrap="square" lIns="0" tIns="0" rIns="0" bIns="0" rtlCol="0" anchor="ctr"/>
          <a:lstStyle/>
          <a:p>
            <a:pPr indent="0" marL="0">
              <a:buNone/>
            </a:pPr>
            <a:r>
              <a:rPr lang="en-US" sz="1200" b="1" dirty="0">
                <a:solidFill>
                  <a:srgbClr val="64748B"/>
                </a:solidFill>
              </a:rPr>
              <a:t>Local: </a:t>
            </a:r>
            <a:pPr indent="0" marL="0">
              <a:buNone/>
            </a:pPr>
            <a:r>
              <a:rPr lang="en-US" sz="1200" dirty="0">
                <a:solidFill>
                  <a:srgbClr val="1E293B"/>
                </a:solidFill>
                <a:latin typeface="Consolas" pitchFamily="34" charset="0"/>
                <a:ea typeface="Consolas" pitchFamily="34" charset="-122"/>
                <a:cs typeface="Consolas" pitchFamily="34" charset="-120"/>
              </a:rPr>
              <a:t>ollama run qwen2.5:3b "say hi"</a:t>
            </a:r>
            <a:endParaRPr lang="en-US" sz="1200" dirty="0"/>
          </a:p>
        </p:txBody>
      </p:sp>
      <p:sp>
        <p:nvSpPr>
          <p:cNvPr id="9" name="Text 7"/>
          <p:cNvSpPr/>
          <p:nvPr/>
        </p:nvSpPr>
        <p:spPr>
          <a:xfrm>
            <a:off x="1280160" y="2788920"/>
            <a:ext cx="7315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If this fails → the LLM stack is broken. Stop. Fix the LLM, not nanobot.</a:t>
            </a:r>
            <a:endParaRPr lang="en-US" sz="1100" dirty="0"/>
          </a:p>
        </p:txBody>
      </p:sp>
      <p:sp>
        <p:nvSpPr>
          <p:cNvPr id="10" name="Shape 8"/>
          <p:cNvSpPr/>
          <p:nvPr/>
        </p:nvSpPr>
        <p:spPr>
          <a:xfrm>
            <a:off x="457200" y="3337560"/>
            <a:ext cx="8229600" cy="1280160"/>
          </a:xfrm>
          <a:prstGeom prst="rect">
            <a:avLst/>
          </a:prstGeom>
          <a:solidFill>
            <a:srgbClr val="FFFFFF"/>
          </a:solidFill>
          <a:ln w="12700">
            <a:solidFill>
              <a:srgbClr val="E2E8F0"/>
            </a:solidFill>
            <a:prstDash val="solid"/>
          </a:ln>
        </p:spPr>
      </p:sp>
      <p:sp>
        <p:nvSpPr>
          <p:cNvPr id="11" name="Text 9"/>
          <p:cNvSpPr/>
          <p:nvPr/>
        </p:nvSpPr>
        <p:spPr>
          <a:xfrm>
            <a:off x="640080" y="3474720"/>
            <a:ext cx="548640" cy="548640"/>
          </a:xfrm>
          <a:prstGeom prst="rect">
            <a:avLst/>
          </a:prstGeom>
          <a:noFill/>
          <a:ln/>
        </p:spPr>
        <p:txBody>
          <a:bodyPr wrap="square" lIns="0" tIns="0" rIns="0" bIns="0" rtlCol="0" anchor="ctr"/>
          <a:lstStyle/>
          <a:p>
            <a:pPr indent="0" marL="0">
              <a:buNone/>
            </a:pPr>
            <a:r>
              <a:rPr lang="en-US" sz="3600" b="1" dirty="0">
                <a:solidFill>
                  <a:srgbClr val="0D9488"/>
                </a:solidFill>
                <a:latin typeface="Cambria" pitchFamily="34" charset="0"/>
                <a:ea typeface="Cambria" pitchFamily="34" charset="-122"/>
                <a:cs typeface="Cambria" pitchFamily="34" charset="-120"/>
              </a:rPr>
              <a:t>2</a:t>
            </a:r>
            <a:endParaRPr lang="en-US" sz="3600" dirty="0"/>
          </a:p>
        </p:txBody>
      </p:sp>
      <p:sp>
        <p:nvSpPr>
          <p:cNvPr id="12" name="Text 10"/>
          <p:cNvSpPr/>
          <p:nvPr/>
        </p:nvSpPr>
        <p:spPr>
          <a:xfrm>
            <a:off x="1280160" y="3429000"/>
            <a:ext cx="7315200" cy="365760"/>
          </a:xfrm>
          <a:prstGeom prst="rect">
            <a:avLst/>
          </a:prstGeom>
          <a:noFill/>
          <a:ln/>
        </p:spPr>
        <p:txBody>
          <a:bodyPr wrap="square" lIns="0" tIns="0" rIns="0" bIns="0" rtlCol="0" anchor="ctr"/>
          <a:lstStyle/>
          <a:p>
            <a:pPr indent="0" marL="0">
              <a:buNone/>
            </a:pPr>
            <a:r>
              <a:rPr lang="en-US" sz="1800" b="1" dirty="0">
                <a:solidFill>
                  <a:srgbClr val="1E293B"/>
                </a:solidFill>
                <a:latin typeface="Cambria" pitchFamily="34" charset="0"/>
                <a:ea typeface="Cambria" pitchFamily="34" charset="-122"/>
                <a:cs typeface="Cambria" pitchFamily="34" charset="-120"/>
              </a:rPr>
              <a:t>Then test through nanobot</a:t>
            </a:r>
            <a:endParaRPr lang="en-US" sz="1800" dirty="0"/>
          </a:p>
        </p:txBody>
      </p:sp>
      <p:sp>
        <p:nvSpPr>
          <p:cNvPr id="13" name="Text 11"/>
          <p:cNvSpPr/>
          <p:nvPr/>
        </p:nvSpPr>
        <p:spPr>
          <a:xfrm>
            <a:off x="1280160" y="3886200"/>
            <a:ext cx="7315200" cy="274320"/>
          </a:xfrm>
          <a:prstGeom prst="rect">
            <a:avLst/>
          </a:prstGeom>
          <a:noFill/>
          <a:ln/>
        </p:spPr>
        <p:txBody>
          <a:bodyPr wrap="square" lIns="0" tIns="0" rIns="0" bIns="0" rtlCol="0" anchor="ctr"/>
          <a:lstStyle/>
          <a:p>
            <a:pPr indent="0" marL="0">
              <a:buNone/>
            </a:pPr>
            <a:r>
              <a:rPr lang="en-US" sz="1200" dirty="0">
                <a:solidFill>
                  <a:srgbClr val="1E293B"/>
                </a:solidFill>
                <a:latin typeface="Consolas" pitchFamily="34" charset="0"/>
                <a:ea typeface="Consolas" pitchFamily="34" charset="-122"/>
                <a:cs typeface="Consolas" pitchFamily="34" charset="-120"/>
              </a:rPr>
              <a:t>nanobot agent -m "Hello"</a:t>
            </a:r>
            <a:endParaRPr lang="en-US" sz="1200" dirty="0"/>
          </a:p>
        </p:txBody>
      </p:sp>
      <p:sp>
        <p:nvSpPr>
          <p:cNvPr id="14" name="Text 12"/>
          <p:cNvSpPr/>
          <p:nvPr/>
        </p:nvSpPr>
        <p:spPr>
          <a:xfrm>
            <a:off x="1280160" y="4206240"/>
            <a:ext cx="73152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If LLM passes but this hangs → bug is in nanobot or its config. Different problem.</a:t>
            </a:r>
            <a:endParaRPr lang="en-US" sz="1100" dirty="0"/>
          </a:p>
        </p:txBody>
      </p:sp>
      <p:sp>
        <p:nvSpPr>
          <p:cNvPr id="16" name="Shape 13"/>
          <p:cNvSpPr/>
          <p:nvPr/>
        </p:nvSpPr>
        <p:spPr>
          <a:xfrm>
            <a:off x="457200" y="4864608"/>
            <a:ext cx="91440" cy="91440"/>
          </a:xfrm>
          <a:prstGeom prst="rect">
            <a:avLst/>
          </a:prstGeom>
          <a:solidFill>
            <a:srgbClr val="0D9488"/>
          </a:solidFill>
          <a:ln w="12700">
            <a:solidFill>
              <a:srgbClr val="0D9488"/>
            </a:solidFill>
            <a:prstDash val="solid"/>
          </a:ln>
        </p:spPr>
      </p:sp>
      <p:sp>
        <p:nvSpPr>
          <p:cNvPr id="17" name="Text 14"/>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18" name="Text 15"/>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 / 25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914400"/>
            <a:ext cx="3657600" cy="2286000"/>
          </a:xfrm>
          <a:prstGeom prst="rect">
            <a:avLst/>
          </a:prstGeom>
          <a:noFill/>
          <a:ln/>
        </p:spPr>
        <p:txBody>
          <a:bodyPr wrap="square" lIns="0" tIns="0" rIns="0" bIns="0" rtlCol="0" anchor="ctr"/>
          <a:lstStyle/>
          <a:p>
            <a:pPr indent="0" marL="0">
              <a:buNone/>
            </a:pPr>
            <a:r>
              <a:rPr lang="en-US" sz="22000" b="1" dirty="0">
                <a:solidFill>
                  <a:srgbClr val="0D9488"/>
                </a:solidFill>
                <a:latin typeface="Cambria" pitchFamily="34" charset="0"/>
                <a:ea typeface="Cambria" pitchFamily="34" charset="-122"/>
                <a:cs typeface="Cambria" pitchFamily="34" charset="-120"/>
              </a:rPr>
              <a:t>03</a:t>
            </a:r>
            <a:endParaRPr lang="en-US" sz="22000" dirty="0"/>
          </a:p>
        </p:txBody>
      </p:sp>
      <p:sp>
        <p:nvSpPr>
          <p:cNvPr id="3" name="Text 1"/>
          <p:cNvSpPr/>
          <p:nvPr/>
        </p:nvSpPr>
        <p:spPr>
          <a:xfrm>
            <a:off x="4114800" y="1371600"/>
            <a:ext cx="4572000" cy="365760"/>
          </a:xfrm>
          <a:prstGeom prst="rect">
            <a:avLst/>
          </a:prstGeom>
          <a:noFill/>
          <a:ln/>
        </p:spPr>
        <p:txBody>
          <a:bodyPr wrap="square" lIns="0" tIns="0" rIns="0" bIns="0" rtlCol="0" anchor="ctr"/>
          <a:lstStyle/>
          <a:p>
            <a:pPr indent="0" marL="0">
              <a:buNone/>
            </a:pPr>
            <a:r>
              <a:rPr lang="en-US" sz="1400" b="1" spc="600" kern="0" dirty="0">
                <a:solidFill>
                  <a:srgbClr val="14B8A6"/>
                </a:solidFill>
                <a:latin typeface="Calibri" pitchFamily="34" charset="0"/>
                <a:ea typeface="Calibri" pitchFamily="34" charset="-122"/>
                <a:cs typeface="Calibri" pitchFamily="34" charset="-120"/>
              </a:rPr>
              <a:t>ACTIVITY</a:t>
            </a:r>
            <a:endParaRPr lang="en-US" sz="1400" dirty="0"/>
          </a:p>
        </p:txBody>
      </p:sp>
      <p:sp>
        <p:nvSpPr>
          <p:cNvPr id="4" name="Text 2"/>
          <p:cNvSpPr/>
          <p:nvPr/>
        </p:nvSpPr>
        <p:spPr>
          <a:xfrm>
            <a:off x="4114800" y="1737360"/>
            <a:ext cx="4572000" cy="822960"/>
          </a:xfrm>
          <a:prstGeom prst="rect">
            <a:avLst/>
          </a:prstGeom>
          <a:noFill/>
          <a:ln/>
        </p:spPr>
        <p:txBody>
          <a:bodyPr wrap="square" lIns="0" tIns="0" rIns="0" bIns="0" rtlCol="0" anchor="ctr"/>
          <a:lstStyle/>
          <a:p>
            <a:pPr indent="0" marL="0">
              <a:buNone/>
            </a:pPr>
            <a:r>
              <a:rPr lang="en-US" sz="3600" b="1" dirty="0">
                <a:solidFill>
                  <a:srgbClr val="F1F5F9"/>
                </a:solidFill>
                <a:latin typeface="Cambria" pitchFamily="34" charset="0"/>
                <a:ea typeface="Cambria" pitchFamily="34" charset="-122"/>
                <a:cs typeface="Cambria" pitchFamily="34" charset="-120"/>
              </a:rPr>
              <a:t>Telegram Gateway</a:t>
            </a:r>
            <a:endParaRPr lang="en-US" sz="3600" dirty="0"/>
          </a:p>
        </p:txBody>
      </p:sp>
      <p:sp>
        <p:nvSpPr>
          <p:cNvPr id="5" name="Text 3"/>
          <p:cNvSpPr/>
          <p:nvPr/>
        </p:nvSpPr>
        <p:spPr>
          <a:xfrm>
            <a:off x="4114800" y="2606040"/>
            <a:ext cx="4572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Bot token, your user ID, allowFrom</a:t>
            </a:r>
            <a:endParaRPr lang="en-US" sz="1400" dirty="0"/>
          </a:p>
        </p:txBody>
      </p:sp>
      <p:sp>
        <p:nvSpPr>
          <p:cNvPr id="6" name="Text 4"/>
          <p:cNvSpPr/>
          <p:nvPr/>
        </p:nvSpPr>
        <p:spPr>
          <a:xfrm>
            <a:off x="4114800" y="3063240"/>
            <a:ext cx="4572000" cy="274320"/>
          </a:xfrm>
          <a:prstGeom prst="rect">
            <a:avLst/>
          </a:prstGeom>
          <a:noFill/>
          <a:ln/>
        </p:spPr>
        <p:txBody>
          <a:bodyPr wrap="square" lIns="0" tIns="0" rIns="0" bIns="0"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~15 min</a:t>
            </a:r>
            <a:endParaRPr lang="en-US" sz="1200" dirty="0"/>
          </a:p>
        </p:txBody>
      </p:sp>
      <p:sp>
        <p:nvSpPr>
          <p:cNvPr id="7" name="Shape 5"/>
          <p:cNvSpPr/>
          <p:nvPr/>
        </p:nvSpPr>
        <p:spPr>
          <a:xfrm>
            <a:off x="457200" y="4114800"/>
            <a:ext cx="8229600" cy="502920"/>
          </a:xfrm>
          <a:prstGeom prst="rect">
            <a:avLst/>
          </a:prstGeom>
          <a:solidFill>
            <a:srgbClr val="1E293B"/>
          </a:solidFill>
          <a:ln w="12700">
            <a:solidFill>
              <a:srgbClr val="0D9488"/>
            </a:solidFill>
            <a:prstDash val="solid"/>
          </a:ln>
        </p:spPr>
      </p:sp>
      <p:sp>
        <p:nvSpPr>
          <p:cNvPr id="8" name="Text 6"/>
          <p:cNvSpPr/>
          <p:nvPr/>
        </p:nvSpPr>
        <p:spPr>
          <a:xfrm>
            <a:off x="457200" y="4114800"/>
            <a:ext cx="8229600" cy="502920"/>
          </a:xfrm>
          <a:prstGeom prst="rect">
            <a:avLst/>
          </a:prstGeom>
          <a:noFill/>
          <a:ln/>
        </p:spPr>
        <p:txBody>
          <a:bodyPr wrap="square" lIns="0" tIns="0" rIns="0" bIns="0" rtlCol="0" anchor="ctr"/>
          <a:lstStyle/>
          <a:p>
            <a:pPr algn="ctr" indent="0" marL="0">
              <a:buNone/>
            </a:pPr>
            <a:r>
              <a:rPr lang="en-US" sz="1200" i="1" dirty="0">
                <a:solidFill>
                  <a:srgbClr val="F1F5F9"/>
                </a:solidFill>
                <a:latin typeface="Calibri" pitchFamily="34" charset="0"/>
                <a:ea typeface="Calibri" pitchFamily="34" charset="-122"/>
                <a:cs typeface="Calibri" pitchFamily="34" charset="-120"/>
              </a:rPr>
              <a:t>👉  Open the worksheet, follow Activity 3. Return when you hit ✅</a:t>
            </a:r>
            <a:endParaRPr lang="en-US" sz="1200" dirty="0"/>
          </a:p>
        </p:txBody>
      </p:sp>
      <p:sp>
        <p:nvSpPr>
          <p:cNvPr id="10" name="Shape 7"/>
          <p:cNvSpPr/>
          <p:nvPr/>
        </p:nvSpPr>
        <p:spPr>
          <a:xfrm>
            <a:off x="457200" y="4864608"/>
            <a:ext cx="91440" cy="91440"/>
          </a:xfrm>
          <a:prstGeom prst="rect">
            <a:avLst/>
          </a:prstGeom>
          <a:solidFill>
            <a:srgbClr val="0D9488"/>
          </a:solidFill>
          <a:ln w="12700">
            <a:solidFill>
              <a:srgbClr val="0D9488"/>
            </a:solidFill>
            <a:prstDash val="solid"/>
          </a:ln>
        </p:spPr>
      </p:sp>
      <p:sp>
        <p:nvSpPr>
          <p:cNvPr id="11" name="Text 8"/>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2" name="Text 9"/>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14 / 25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ACTIVITY 3 · CONCEPT</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The gateway is a process, not a request.</a:t>
            </a:r>
            <a:endParaRPr lang="en-US" sz="3200" dirty="0"/>
          </a:p>
        </p:txBody>
      </p:sp>
      <p:sp>
        <p:nvSpPr>
          <p:cNvPr id="4" name="Text 2"/>
          <p:cNvSpPr/>
          <p:nvPr/>
        </p:nvSpPr>
        <p:spPr>
          <a:xfrm>
            <a:off x="457200" y="1417320"/>
            <a:ext cx="8229600" cy="457200"/>
          </a:xfrm>
          <a:prstGeom prst="rect">
            <a:avLst/>
          </a:prstGeom>
          <a:noFill/>
          <a:ln/>
        </p:spPr>
        <p:txBody>
          <a:bodyPr wrap="square" lIns="0" tIns="0" rIns="0" bIns="0" rtlCol="0" anchor="ctr"/>
          <a:lstStyle/>
          <a:p>
            <a:pPr indent="0" marL="0">
              <a:buNone/>
            </a:pPr>
            <a:r>
              <a:rPr lang="en-US" sz="1400" b="1" dirty="0">
                <a:solidFill>
                  <a:srgbClr val="0D9488"/>
                </a:solidFill>
                <a:latin typeface="Consolas" pitchFamily="34" charset="0"/>
                <a:ea typeface="Consolas" pitchFamily="34" charset="-122"/>
                <a:cs typeface="Consolas" pitchFamily="34" charset="-120"/>
              </a:rPr>
              <a:t>nanobot gateway</a:t>
            </a:r>
            <a:pPr indent="0" marL="0">
              <a:buNone/>
            </a:pPr>
            <a:r>
              <a:rPr lang="en-US" sz="1400" dirty="0">
                <a:solidFill>
                  <a:srgbClr val="1E293B"/>
                </a:solidFill>
                <a:latin typeface="Calibri" pitchFamily="34" charset="0"/>
                <a:ea typeface="Calibri" pitchFamily="34" charset="-122"/>
                <a:cs typeface="Calibri" pitchFamily="34" charset="-120"/>
              </a:rPr>
              <a:t>  is long-running. It polls Telegram for new messages and replies as they come.</a:t>
            </a:r>
            <a:endParaRPr lang="en-US" sz="1400" dirty="0"/>
          </a:p>
        </p:txBody>
      </p:sp>
      <p:sp>
        <p:nvSpPr>
          <p:cNvPr id="5" name="Shape 3"/>
          <p:cNvSpPr/>
          <p:nvPr/>
        </p:nvSpPr>
        <p:spPr>
          <a:xfrm>
            <a:off x="457200" y="2057400"/>
            <a:ext cx="8229600" cy="594360"/>
          </a:xfrm>
          <a:prstGeom prst="rect">
            <a:avLst/>
          </a:prstGeom>
          <a:solidFill>
            <a:srgbClr val="F8FAFC"/>
          </a:solidFill>
          <a:ln w="12700">
            <a:solidFill>
              <a:srgbClr val="F8FAFC"/>
            </a:solidFill>
            <a:prstDash val="solid"/>
          </a:ln>
        </p:spPr>
      </p:sp>
      <p:sp>
        <p:nvSpPr>
          <p:cNvPr id="6" name="Text 4"/>
          <p:cNvSpPr/>
          <p:nvPr/>
        </p:nvSpPr>
        <p:spPr>
          <a:xfrm>
            <a:off x="548640" y="2057400"/>
            <a:ext cx="54864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1188720" y="2057400"/>
            <a:ext cx="740664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While the terminal runs, your bot is online.</a:t>
            </a:r>
            <a:pPr indent="0" marL="0">
              <a:buNone/>
            </a:pPr>
            <a:r>
              <a:rPr lang="en-US" sz="1200" dirty="0">
                <a:solidFill>
                  <a:srgbClr val="64748B"/>
                </a:solidFill>
                <a:latin typeface="Calibri" pitchFamily="34" charset="0"/>
                <a:ea typeface="Calibri" pitchFamily="34" charset="-122"/>
                <a:cs typeface="Calibri" pitchFamily="34" charset="-120"/>
              </a:rPr>
              <a:t>   Close it → bot offline.</a:t>
            </a:r>
            <a:endParaRPr lang="en-US" sz="1200" dirty="0"/>
          </a:p>
        </p:txBody>
      </p:sp>
      <p:sp>
        <p:nvSpPr>
          <p:cNvPr id="8" name="Shape 6"/>
          <p:cNvSpPr/>
          <p:nvPr/>
        </p:nvSpPr>
        <p:spPr>
          <a:xfrm>
            <a:off x="457200" y="2715768"/>
            <a:ext cx="8229600" cy="594360"/>
          </a:xfrm>
          <a:prstGeom prst="rect">
            <a:avLst/>
          </a:prstGeom>
          <a:solidFill>
            <a:srgbClr val="F8FAFC"/>
          </a:solidFill>
          <a:ln w="12700">
            <a:solidFill>
              <a:srgbClr val="F8FAFC"/>
            </a:solidFill>
            <a:prstDash val="solid"/>
          </a:ln>
        </p:spPr>
      </p:sp>
      <p:sp>
        <p:nvSpPr>
          <p:cNvPr id="9" name="Text 7"/>
          <p:cNvSpPr/>
          <p:nvPr/>
        </p:nvSpPr>
        <p:spPr>
          <a:xfrm>
            <a:off x="548640" y="2715768"/>
            <a:ext cx="54864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0" name="Text 8"/>
          <p:cNvSpPr/>
          <p:nvPr/>
        </p:nvSpPr>
        <p:spPr>
          <a:xfrm>
            <a:off x="1188720" y="2715768"/>
            <a:ext cx="740664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Open a second terminal for everything else.</a:t>
            </a:r>
            <a:pPr indent="0" marL="0">
              <a:buNone/>
            </a:pPr>
            <a:r>
              <a:rPr lang="en-US" sz="1200" dirty="0">
                <a:solidFill>
                  <a:srgbClr val="64748B"/>
                </a:solidFill>
                <a:latin typeface="Calibri" pitchFamily="34" charset="0"/>
                <a:ea typeface="Calibri" pitchFamily="34" charset="-122"/>
                <a:cs typeface="Calibri" pitchFamily="34" charset="-120"/>
              </a:rPr>
              <a:t>   The gateway terminal is now its own thing.</a:t>
            </a:r>
            <a:endParaRPr lang="en-US" sz="1200" dirty="0"/>
          </a:p>
        </p:txBody>
      </p:sp>
      <p:sp>
        <p:nvSpPr>
          <p:cNvPr id="11" name="Shape 9"/>
          <p:cNvSpPr/>
          <p:nvPr/>
        </p:nvSpPr>
        <p:spPr>
          <a:xfrm>
            <a:off x="457200" y="3374136"/>
            <a:ext cx="8229600" cy="594360"/>
          </a:xfrm>
          <a:prstGeom prst="rect">
            <a:avLst/>
          </a:prstGeom>
          <a:solidFill>
            <a:srgbClr val="F8FAFC"/>
          </a:solidFill>
          <a:ln w="12700">
            <a:solidFill>
              <a:srgbClr val="F8FAFC"/>
            </a:solidFill>
            <a:prstDash val="solid"/>
          </a:ln>
        </p:spPr>
      </p:sp>
      <p:sp>
        <p:nvSpPr>
          <p:cNvPr id="12" name="Text 10"/>
          <p:cNvSpPr/>
          <p:nvPr/>
        </p:nvSpPr>
        <p:spPr>
          <a:xfrm>
            <a:off x="548640" y="3374136"/>
            <a:ext cx="54864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1188720" y="3374136"/>
            <a:ext cx="740664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For always-on operation, run as a systemd service.</a:t>
            </a:r>
            <a:pPr indent="0" marL="0">
              <a:buNone/>
            </a:pPr>
            <a:r>
              <a:rPr lang="en-US" sz="1200" dirty="0">
                <a:solidFill>
                  <a:srgbClr val="64748B"/>
                </a:solidFill>
                <a:latin typeface="Calibri" pitchFamily="34" charset="0"/>
                <a:ea typeface="Calibri" pitchFamily="34" charset="-122"/>
                <a:cs typeface="Calibri" pitchFamily="34" charset="-120"/>
              </a:rPr>
              <a:t>   Survives reboots, no terminal needed. Worksheet has a 6-line snippet.</a:t>
            </a:r>
            <a:endParaRPr lang="en-US" sz="1200" dirty="0"/>
          </a:p>
        </p:txBody>
      </p:sp>
      <p:sp>
        <p:nvSpPr>
          <p:cNvPr id="14" name="Shape 12"/>
          <p:cNvSpPr/>
          <p:nvPr/>
        </p:nvSpPr>
        <p:spPr>
          <a:xfrm>
            <a:off x="457200" y="4032504"/>
            <a:ext cx="8229600" cy="594360"/>
          </a:xfrm>
          <a:prstGeom prst="rect">
            <a:avLst/>
          </a:prstGeom>
          <a:solidFill>
            <a:srgbClr val="F8FAFC"/>
          </a:solidFill>
          <a:ln w="12700">
            <a:solidFill>
              <a:srgbClr val="F8FAFC"/>
            </a:solidFill>
            <a:prstDash val="solid"/>
          </a:ln>
        </p:spPr>
      </p:sp>
      <p:sp>
        <p:nvSpPr>
          <p:cNvPr id="15" name="Text 13"/>
          <p:cNvSpPr/>
          <p:nvPr/>
        </p:nvSpPr>
        <p:spPr>
          <a:xfrm>
            <a:off x="548640" y="4032504"/>
            <a:ext cx="54864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1188720" y="4032504"/>
            <a:ext cx="7406640" cy="59436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allowFrom = your user ID, in quotes, in a list.</a:t>
            </a:r>
            <a:pPr indent="0" marL="0">
              <a:buNone/>
            </a:pPr>
            <a:r>
              <a:rPr lang="en-US" sz="1200" dirty="0">
                <a:solidFill>
                  <a:srgbClr val="64748B"/>
                </a:solidFill>
                <a:latin typeface="Calibri" pitchFamily="34" charset="0"/>
                <a:ea typeface="Calibri" pitchFamily="34" charset="-122"/>
                <a:cs typeface="Calibri" pitchFamily="34" charset="-120"/>
              </a:rPr>
              <a:t>   Otherwise: anyone who finds your bot can use it. Don't skip.</a:t>
            </a:r>
            <a:endParaRPr lang="en-US" sz="1200" dirty="0"/>
          </a:p>
        </p:txBody>
      </p:sp>
      <p:sp>
        <p:nvSpPr>
          <p:cNvPr id="18" name="Shape 15"/>
          <p:cNvSpPr/>
          <p:nvPr/>
        </p:nvSpPr>
        <p:spPr>
          <a:xfrm>
            <a:off x="457200" y="4864608"/>
            <a:ext cx="91440" cy="91440"/>
          </a:xfrm>
          <a:prstGeom prst="rect">
            <a:avLst/>
          </a:prstGeom>
          <a:solidFill>
            <a:srgbClr val="0D9488"/>
          </a:solidFill>
          <a:ln w="12700">
            <a:solidFill>
              <a:srgbClr val="0D9488"/>
            </a:solidFill>
            <a:prstDash val="solid"/>
          </a:ln>
        </p:spPr>
      </p:sp>
      <p:sp>
        <p:nvSpPr>
          <p:cNvPr id="19" name="Text 16"/>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0" name="Text 17"/>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 / 25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914400"/>
            <a:ext cx="3657600" cy="2286000"/>
          </a:xfrm>
          <a:prstGeom prst="rect">
            <a:avLst/>
          </a:prstGeom>
          <a:noFill/>
          <a:ln/>
        </p:spPr>
        <p:txBody>
          <a:bodyPr wrap="square" lIns="0" tIns="0" rIns="0" bIns="0" rtlCol="0" anchor="ctr"/>
          <a:lstStyle/>
          <a:p>
            <a:pPr indent="0" marL="0">
              <a:buNone/>
            </a:pPr>
            <a:r>
              <a:rPr lang="en-US" sz="22000" b="1" dirty="0">
                <a:solidFill>
                  <a:srgbClr val="0D9488"/>
                </a:solidFill>
                <a:latin typeface="Cambria" pitchFamily="34" charset="0"/>
                <a:ea typeface="Cambria" pitchFamily="34" charset="-122"/>
                <a:cs typeface="Cambria" pitchFamily="34" charset="-120"/>
              </a:rPr>
              <a:t>04</a:t>
            </a:r>
            <a:endParaRPr lang="en-US" sz="22000" dirty="0"/>
          </a:p>
        </p:txBody>
      </p:sp>
      <p:sp>
        <p:nvSpPr>
          <p:cNvPr id="3" name="Text 1"/>
          <p:cNvSpPr/>
          <p:nvPr/>
        </p:nvSpPr>
        <p:spPr>
          <a:xfrm>
            <a:off x="4114800" y="1188720"/>
            <a:ext cx="4572000" cy="365760"/>
          </a:xfrm>
          <a:prstGeom prst="rect">
            <a:avLst/>
          </a:prstGeom>
          <a:noFill/>
          <a:ln/>
        </p:spPr>
        <p:txBody>
          <a:bodyPr wrap="square" lIns="0" tIns="0" rIns="0" bIns="0" rtlCol="0" anchor="ctr"/>
          <a:lstStyle/>
          <a:p>
            <a:pPr indent="0" marL="0">
              <a:buNone/>
            </a:pPr>
            <a:r>
              <a:rPr lang="en-US" sz="1400" b="1" spc="600" kern="0" dirty="0">
                <a:solidFill>
                  <a:srgbClr val="14B8A6"/>
                </a:solidFill>
                <a:latin typeface="Calibri" pitchFamily="34" charset="0"/>
                <a:ea typeface="Calibri" pitchFamily="34" charset="-122"/>
                <a:cs typeface="Calibri" pitchFamily="34" charset="-120"/>
              </a:rPr>
              <a:t>ACTIVITY</a:t>
            </a:r>
            <a:endParaRPr lang="en-US" sz="1400" dirty="0"/>
          </a:p>
        </p:txBody>
      </p:sp>
      <p:sp>
        <p:nvSpPr>
          <p:cNvPr id="4" name="Text 2"/>
          <p:cNvSpPr/>
          <p:nvPr/>
        </p:nvSpPr>
        <p:spPr>
          <a:xfrm>
            <a:off x="4114800" y="1554480"/>
            <a:ext cx="4572000" cy="822960"/>
          </a:xfrm>
          <a:prstGeom prst="rect">
            <a:avLst/>
          </a:prstGeom>
          <a:noFill/>
          <a:ln/>
        </p:spPr>
        <p:txBody>
          <a:bodyPr wrap="square" lIns="0" tIns="0" rIns="0" bIns="0" rtlCol="0" anchor="ctr"/>
          <a:lstStyle/>
          <a:p>
            <a:pPr indent="0" marL="0">
              <a:buNone/>
            </a:pPr>
            <a:r>
              <a:rPr lang="en-US" sz="3600" b="1" dirty="0">
                <a:solidFill>
                  <a:srgbClr val="F1F5F9"/>
                </a:solidFill>
                <a:latin typeface="Cambria" pitchFamily="34" charset="0"/>
                <a:ea typeface="Cambria" pitchFamily="34" charset="-122"/>
                <a:cs typeface="Cambria" pitchFamily="34" charset="-120"/>
              </a:rPr>
              <a:t>The Schema</a:t>
            </a:r>
            <a:endParaRPr lang="en-US" sz="3600" dirty="0"/>
          </a:p>
        </p:txBody>
      </p:sp>
      <p:sp>
        <p:nvSpPr>
          <p:cNvPr id="5" name="Text 3"/>
          <p:cNvSpPr/>
          <p:nvPr/>
        </p:nvSpPr>
        <p:spPr>
          <a:xfrm>
            <a:off x="4114800" y="2423160"/>
            <a:ext cx="4572000" cy="45720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Make AGENTS.md a wiki maintainer for YOUR topic</a:t>
            </a:r>
            <a:endParaRPr lang="en-US" sz="1400" dirty="0"/>
          </a:p>
        </p:txBody>
      </p:sp>
      <p:sp>
        <p:nvSpPr>
          <p:cNvPr id="6" name="Shape 4"/>
          <p:cNvSpPr/>
          <p:nvPr/>
        </p:nvSpPr>
        <p:spPr>
          <a:xfrm>
            <a:off x="4114800" y="3017520"/>
            <a:ext cx="4572000" cy="640080"/>
          </a:xfrm>
          <a:prstGeom prst="rect">
            <a:avLst/>
          </a:prstGeom>
          <a:solidFill>
            <a:srgbClr val="0D9488"/>
          </a:solidFill>
          <a:ln w="12700">
            <a:solidFill>
              <a:srgbClr val="0D9488"/>
            </a:solidFill>
            <a:prstDash val="solid"/>
          </a:ln>
        </p:spPr>
      </p:sp>
      <p:sp>
        <p:nvSpPr>
          <p:cNvPr id="7" name="Text 5"/>
          <p:cNvSpPr/>
          <p:nvPr/>
        </p:nvSpPr>
        <p:spPr>
          <a:xfrm>
            <a:off x="4114800" y="3017520"/>
            <a:ext cx="4572000" cy="640080"/>
          </a:xfrm>
          <a:prstGeom prst="rect">
            <a:avLst/>
          </a:prstGeom>
          <a:noFill/>
          <a:ln/>
        </p:spPr>
        <p:txBody>
          <a:bodyPr wrap="square" lIns="0" tIns="0" rIns="0" bIns="0" rtlCol="0" anchor="ctr"/>
          <a:lstStyle/>
          <a:p>
            <a:pPr algn="ctr" indent="0" marL="0">
              <a:buNone/>
            </a:pPr>
            <a:r>
              <a:rPr lang="en-US" sz="1800" b="1" i="1" dirty="0">
                <a:solidFill>
                  <a:srgbClr val="FFFFFF"/>
                </a:solidFill>
                <a:latin typeface="Cambria" pitchFamily="34" charset="0"/>
                <a:ea typeface="Cambria" pitchFamily="34" charset="-122"/>
                <a:cs typeface="Cambria" pitchFamily="34" charset="-120"/>
              </a:rPr>
              <a:t>This is the workshop.</a:t>
            </a:r>
            <a:endParaRPr lang="en-US" sz="1800" dirty="0"/>
          </a:p>
        </p:txBody>
      </p:sp>
      <p:sp>
        <p:nvSpPr>
          <p:cNvPr id="8" name="Text 6"/>
          <p:cNvSpPr/>
          <p:nvPr/>
        </p:nvSpPr>
        <p:spPr>
          <a:xfrm>
            <a:off x="4114800" y="3703320"/>
            <a:ext cx="4572000" cy="274320"/>
          </a:xfrm>
          <a:prstGeom prst="rect">
            <a:avLst/>
          </a:prstGeom>
          <a:noFill/>
          <a:ln/>
        </p:spPr>
        <p:txBody>
          <a:bodyPr wrap="square" lIns="0" tIns="0" rIns="0" bIns="0" rtlCol="0" anchor="ctr"/>
          <a:lstStyle/>
          <a:p>
            <a:pPr algn="ctr" indent="0" marL="0">
              <a:buNone/>
            </a:pPr>
            <a:r>
              <a:rPr lang="en-US" sz="1200" i="1" dirty="0">
                <a:solidFill>
                  <a:srgbClr val="94A3B8"/>
                </a:solidFill>
                <a:latin typeface="Calibri" pitchFamily="34" charset="0"/>
                <a:ea typeface="Calibri" pitchFamily="34" charset="-122"/>
                <a:cs typeface="Calibri" pitchFamily="34" charset="-120"/>
              </a:rPr>
              <a:t>Everything else is plumbing.</a:t>
            </a:r>
            <a:endParaRPr lang="en-US" sz="1200" dirty="0"/>
          </a:p>
        </p:txBody>
      </p:sp>
      <p:sp>
        <p:nvSpPr>
          <p:cNvPr id="9" name="Shape 7"/>
          <p:cNvSpPr/>
          <p:nvPr/>
        </p:nvSpPr>
        <p:spPr>
          <a:xfrm>
            <a:off x="457200" y="4114800"/>
            <a:ext cx="8229600" cy="502920"/>
          </a:xfrm>
          <a:prstGeom prst="rect">
            <a:avLst/>
          </a:prstGeom>
          <a:solidFill>
            <a:srgbClr val="1E293B"/>
          </a:solidFill>
          <a:ln w="12700">
            <a:solidFill>
              <a:srgbClr val="0D9488"/>
            </a:solidFill>
            <a:prstDash val="solid"/>
          </a:ln>
        </p:spPr>
      </p:sp>
      <p:sp>
        <p:nvSpPr>
          <p:cNvPr id="10" name="Text 8"/>
          <p:cNvSpPr/>
          <p:nvPr/>
        </p:nvSpPr>
        <p:spPr>
          <a:xfrm>
            <a:off x="457200" y="4114800"/>
            <a:ext cx="8229600" cy="502920"/>
          </a:xfrm>
          <a:prstGeom prst="rect">
            <a:avLst/>
          </a:prstGeom>
          <a:noFill/>
          <a:ln/>
        </p:spPr>
        <p:txBody>
          <a:bodyPr wrap="square" lIns="0" tIns="0" rIns="0" bIns="0" rtlCol="0" anchor="ctr"/>
          <a:lstStyle/>
          <a:p>
            <a:pPr algn="ctr" indent="0" marL="0">
              <a:buNone/>
            </a:pPr>
            <a:r>
              <a:rPr lang="en-US" sz="1200" i="1" dirty="0">
                <a:solidFill>
                  <a:srgbClr val="F1F5F9"/>
                </a:solidFill>
                <a:latin typeface="Calibri" pitchFamily="34" charset="0"/>
                <a:ea typeface="Calibri" pitchFamily="34" charset="-122"/>
                <a:cs typeface="Calibri" pitchFamily="34" charset="-120"/>
              </a:rPr>
              <a:t>👉  Open the worksheet, follow Activity 4. Return when you hit ✅</a:t>
            </a:r>
            <a:endParaRPr lang="en-US" sz="1200" dirty="0"/>
          </a:p>
        </p:txBody>
      </p:sp>
      <p:sp>
        <p:nvSpPr>
          <p:cNvPr id="12" name="Shape 9"/>
          <p:cNvSpPr/>
          <p:nvPr/>
        </p:nvSpPr>
        <p:spPr>
          <a:xfrm>
            <a:off x="457200" y="4864608"/>
            <a:ext cx="91440" cy="91440"/>
          </a:xfrm>
          <a:prstGeom prst="rect">
            <a:avLst/>
          </a:prstGeom>
          <a:solidFill>
            <a:srgbClr val="0D9488"/>
          </a:solidFill>
          <a:ln w="12700">
            <a:solidFill>
              <a:srgbClr val="0D9488"/>
            </a:solidFill>
            <a:prstDash val="solid"/>
          </a:ln>
        </p:spPr>
      </p:sp>
      <p:sp>
        <p:nvSpPr>
          <p:cNvPr id="13" name="Text 10"/>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4" name="Text 11"/>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16 / 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ACTIVITY 4 · PRINCIPLES</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Three rules for writing a schema that works.</a:t>
            </a:r>
            <a:endParaRPr lang="en-US" sz="3200" dirty="0"/>
          </a:p>
        </p:txBody>
      </p:sp>
      <p:sp>
        <p:nvSpPr>
          <p:cNvPr id="4" name="Shape 2"/>
          <p:cNvSpPr/>
          <p:nvPr/>
        </p:nvSpPr>
        <p:spPr>
          <a:xfrm>
            <a:off x="457200" y="1417320"/>
            <a:ext cx="8229600" cy="868680"/>
          </a:xfrm>
          <a:prstGeom prst="rect">
            <a:avLst/>
          </a:prstGeom>
          <a:solidFill>
            <a:srgbClr val="FFFFFF"/>
          </a:solidFill>
          <a:ln w="12700">
            <a:solidFill>
              <a:srgbClr val="E2E8F0"/>
            </a:solidFill>
            <a:prstDash val="solid"/>
          </a:ln>
        </p:spPr>
      </p:sp>
      <p:sp>
        <p:nvSpPr>
          <p:cNvPr id="5" name="Shape 3"/>
          <p:cNvSpPr/>
          <p:nvPr/>
        </p:nvSpPr>
        <p:spPr>
          <a:xfrm>
            <a:off x="457200" y="1417320"/>
            <a:ext cx="868680" cy="868680"/>
          </a:xfrm>
          <a:prstGeom prst="rect">
            <a:avLst/>
          </a:prstGeom>
          <a:solidFill>
            <a:srgbClr val="0D9488"/>
          </a:solidFill>
          <a:ln w="12700">
            <a:solidFill>
              <a:srgbClr val="0D9488"/>
            </a:solidFill>
            <a:prstDash val="solid"/>
          </a:ln>
        </p:spPr>
      </p:sp>
      <p:sp>
        <p:nvSpPr>
          <p:cNvPr id="6" name="Text 4"/>
          <p:cNvSpPr/>
          <p:nvPr/>
        </p:nvSpPr>
        <p:spPr>
          <a:xfrm>
            <a:off x="457200" y="1417320"/>
            <a:ext cx="86868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7" name="Text 5"/>
          <p:cNvSpPr/>
          <p:nvPr/>
        </p:nvSpPr>
        <p:spPr>
          <a:xfrm>
            <a:off x="1508760" y="1527048"/>
            <a:ext cx="7040880" cy="32004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Pick a narrow topic.</a:t>
            </a:r>
            <a:endParaRPr lang="en-US" sz="1600" dirty="0"/>
          </a:p>
        </p:txBody>
      </p:sp>
      <p:sp>
        <p:nvSpPr>
          <p:cNvPr id="8" name="Text 6"/>
          <p:cNvSpPr/>
          <p:nvPr/>
        </p:nvSpPr>
        <p:spPr>
          <a:xfrm>
            <a:off x="1508760" y="1847088"/>
            <a:ext cx="704088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"Tech" fails. "Premier League tactics 2025–26" works. Narrow enough that 'the wiki' is a meaningful object.</a:t>
            </a:r>
            <a:endParaRPr lang="en-US" sz="1200" dirty="0"/>
          </a:p>
        </p:txBody>
      </p:sp>
      <p:sp>
        <p:nvSpPr>
          <p:cNvPr id="9" name="Shape 7"/>
          <p:cNvSpPr/>
          <p:nvPr/>
        </p:nvSpPr>
        <p:spPr>
          <a:xfrm>
            <a:off x="457200" y="2395728"/>
            <a:ext cx="8229600" cy="868680"/>
          </a:xfrm>
          <a:prstGeom prst="rect">
            <a:avLst/>
          </a:prstGeom>
          <a:solidFill>
            <a:srgbClr val="FFFFFF"/>
          </a:solidFill>
          <a:ln w="12700">
            <a:solidFill>
              <a:srgbClr val="E2E8F0"/>
            </a:solidFill>
            <a:prstDash val="solid"/>
          </a:ln>
        </p:spPr>
      </p:sp>
      <p:sp>
        <p:nvSpPr>
          <p:cNvPr id="10" name="Shape 8"/>
          <p:cNvSpPr/>
          <p:nvPr/>
        </p:nvSpPr>
        <p:spPr>
          <a:xfrm>
            <a:off x="457200" y="2395728"/>
            <a:ext cx="868680" cy="868680"/>
          </a:xfrm>
          <a:prstGeom prst="rect">
            <a:avLst/>
          </a:prstGeom>
          <a:solidFill>
            <a:srgbClr val="0D9488"/>
          </a:solidFill>
          <a:ln w="12700">
            <a:solidFill>
              <a:srgbClr val="0D9488"/>
            </a:solidFill>
            <a:prstDash val="solid"/>
          </a:ln>
        </p:spPr>
      </p:sp>
      <p:sp>
        <p:nvSpPr>
          <p:cNvPr id="11" name="Text 9"/>
          <p:cNvSpPr/>
          <p:nvPr/>
        </p:nvSpPr>
        <p:spPr>
          <a:xfrm>
            <a:off x="457200" y="2395728"/>
            <a:ext cx="86868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12" name="Text 10"/>
          <p:cNvSpPr/>
          <p:nvPr/>
        </p:nvSpPr>
        <p:spPr>
          <a:xfrm>
            <a:off x="1508760" y="2505456"/>
            <a:ext cx="7040880" cy="32004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Write like a programmer, in English.</a:t>
            </a:r>
            <a:endParaRPr lang="en-US" sz="1600" dirty="0"/>
          </a:p>
        </p:txBody>
      </p:sp>
      <p:sp>
        <p:nvSpPr>
          <p:cNvPr id="13" name="Text 11"/>
          <p:cNvSpPr/>
          <p:nvPr/>
        </p:nvSpPr>
        <p:spPr>
          <a:xfrm>
            <a:off x="1508760" y="2825496"/>
            <a:ext cx="704088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Use MANDATORY, ALWAYS, NEVER. Soft language gets ignored by smaller models. Treat AGENTS.md like a spec, not a vibe.</a:t>
            </a:r>
            <a:endParaRPr lang="en-US" sz="1200" dirty="0"/>
          </a:p>
        </p:txBody>
      </p:sp>
      <p:sp>
        <p:nvSpPr>
          <p:cNvPr id="14" name="Shape 12"/>
          <p:cNvSpPr/>
          <p:nvPr/>
        </p:nvSpPr>
        <p:spPr>
          <a:xfrm>
            <a:off x="457200" y="3374136"/>
            <a:ext cx="8229600" cy="868680"/>
          </a:xfrm>
          <a:prstGeom prst="rect">
            <a:avLst/>
          </a:prstGeom>
          <a:solidFill>
            <a:srgbClr val="FFFFFF"/>
          </a:solidFill>
          <a:ln w="12700">
            <a:solidFill>
              <a:srgbClr val="E2E8F0"/>
            </a:solidFill>
            <a:prstDash val="solid"/>
          </a:ln>
        </p:spPr>
      </p:sp>
      <p:sp>
        <p:nvSpPr>
          <p:cNvPr id="15" name="Shape 13"/>
          <p:cNvSpPr/>
          <p:nvPr/>
        </p:nvSpPr>
        <p:spPr>
          <a:xfrm>
            <a:off x="457200" y="3374136"/>
            <a:ext cx="868680" cy="868680"/>
          </a:xfrm>
          <a:prstGeom prst="rect">
            <a:avLst/>
          </a:prstGeom>
          <a:solidFill>
            <a:srgbClr val="0D9488"/>
          </a:solidFill>
          <a:ln w="12700">
            <a:solidFill>
              <a:srgbClr val="0D9488"/>
            </a:solidFill>
            <a:prstDash val="solid"/>
          </a:ln>
        </p:spPr>
      </p:sp>
      <p:sp>
        <p:nvSpPr>
          <p:cNvPr id="16" name="Text 14"/>
          <p:cNvSpPr/>
          <p:nvPr/>
        </p:nvSpPr>
        <p:spPr>
          <a:xfrm>
            <a:off x="457200" y="3374136"/>
            <a:ext cx="868680" cy="86868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17" name="Text 15"/>
          <p:cNvSpPr/>
          <p:nvPr/>
        </p:nvSpPr>
        <p:spPr>
          <a:xfrm>
            <a:off x="1508760" y="3483864"/>
            <a:ext cx="7040880" cy="320040"/>
          </a:xfrm>
          <a:prstGeom prst="rect">
            <a:avLst/>
          </a:prstGeom>
          <a:noFill/>
          <a:ln/>
        </p:spPr>
        <p:txBody>
          <a:bodyPr wrap="square" lIns="0" tIns="0" rIns="0" bIns="0" rtlCol="0" anchor="ctr"/>
          <a:lstStyle/>
          <a:p>
            <a:pPr indent="0" marL="0">
              <a:buNone/>
            </a:pPr>
            <a:r>
              <a:rPr lang="en-US" sz="1600" b="1" dirty="0">
                <a:solidFill>
                  <a:srgbClr val="1E293B"/>
                </a:solidFill>
                <a:latin typeface="Cambria" pitchFamily="34" charset="0"/>
                <a:ea typeface="Cambria" pitchFamily="34" charset="-122"/>
                <a:cs typeface="Cambria" pitchFamily="34" charset="-120"/>
              </a:rPr>
              <a:t>Include a worked example.</a:t>
            </a:r>
            <a:endParaRPr lang="en-US" sz="1600" dirty="0"/>
          </a:p>
        </p:txBody>
      </p:sp>
      <p:sp>
        <p:nvSpPr>
          <p:cNvPr id="18" name="Text 16"/>
          <p:cNvSpPr/>
          <p:nvPr/>
        </p:nvSpPr>
        <p:spPr>
          <a:xfrm>
            <a:off x="1508760" y="3803904"/>
            <a:ext cx="7040880" cy="5029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Show the right AND wrong behaviour. Small models follow examples better than rules. Show what to do; show what not to do.</a:t>
            </a:r>
            <a:endParaRPr lang="en-US" sz="1200" dirty="0"/>
          </a:p>
        </p:txBody>
      </p:sp>
      <p:sp>
        <p:nvSpPr>
          <p:cNvPr id="19" name="Text 17"/>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Imitate the pattern in the worksheet. Just swap the topic.</a:t>
            </a:r>
            <a:endParaRPr lang="en-US" sz="1200" dirty="0"/>
          </a:p>
        </p:txBody>
      </p:sp>
      <p:sp>
        <p:nvSpPr>
          <p:cNvPr id="21" name="Shape 18"/>
          <p:cNvSpPr/>
          <p:nvPr/>
        </p:nvSpPr>
        <p:spPr>
          <a:xfrm>
            <a:off x="457200" y="4864608"/>
            <a:ext cx="91440" cy="91440"/>
          </a:xfrm>
          <a:prstGeom prst="rect">
            <a:avLst/>
          </a:prstGeom>
          <a:solidFill>
            <a:srgbClr val="0D9488"/>
          </a:solidFill>
          <a:ln w="12700">
            <a:solidFill>
              <a:srgbClr val="0D9488"/>
            </a:solidFill>
            <a:prstDash val="solid"/>
          </a:ln>
        </p:spPr>
      </p:sp>
      <p:sp>
        <p:nvSpPr>
          <p:cNvPr id="22" name="Text 19"/>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3" name="Text 2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 / 25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914400"/>
            <a:ext cx="3657600" cy="2286000"/>
          </a:xfrm>
          <a:prstGeom prst="rect">
            <a:avLst/>
          </a:prstGeom>
          <a:noFill/>
          <a:ln/>
        </p:spPr>
        <p:txBody>
          <a:bodyPr wrap="square" lIns="0" tIns="0" rIns="0" bIns="0" rtlCol="0" anchor="ctr"/>
          <a:lstStyle/>
          <a:p>
            <a:pPr indent="0" marL="0">
              <a:buNone/>
            </a:pPr>
            <a:r>
              <a:rPr lang="en-US" sz="22000" b="1" dirty="0">
                <a:solidFill>
                  <a:srgbClr val="0D9488"/>
                </a:solidFill>
                <a:latin typeface="Cambria" pitchFamily="34" charset="0"/>
                <a:ea typeface="Cambria" pitchFamily="34" charset="-122"/>
                <a:cs typeface="Cambria" pitchFamily="34" charset="-120"/>
              </a:rPr>
              <a:t>05</a:t>
            </a:r>
            <a:endParaRPr lang="en-US" sz="22000" dirty="0"/>
          </a:p>
        </p:txBody>
      </p:sp>
      <p:sp>
        <p:nvSpPr>
          <p:cNvPr id="3" name="Text 1"/>
          <p:cNvSpPr/>
          <p:nvPr/>
        </p:nvSpPr>
        <p:spPr>
          <a:xfrm>
            <a:off x="4114800" y="1371600"/>
            <a:ext cx="4572000" cy="365760"/>
          </a:xfrm>
          <a:prstGeom prst="rect">
            <a:avLst/>
          </a:prstGeom>
          <a:noFill/>
          <a:ln/>
        </p:spPr>
        <p:txBody>
          <a:bodyPr wrap="square" lIns="0" tIns="0" rIns="0" bIns="0" rtlCol="0" anchor="ctr"/>
          <a:lstStyle/>
          <a:p>
            <a:pPr indent="0" marL="0">
              <a:buNone/>
            </a:pPr>
            <a:r>
              <a:rPr lang="en-US" sz="1400" b="1" spc="600" kern="0" dirty="0">
                <a:solidFill>
                  <a:srgbClr val="14B8A6"/>
                </a:solidFill>
                <a:latin typeface="Calibri" pitchFamily="34" charset="0"/>
                <a:ea typeface="Calibri" pitchFamily="34" charset="-122"/>
                <a:cs typeface="Calibri" pitchFamily="34" charset="-120"/>
              </a:rPr>
              <a:t>ACTIVITY</a:t>
            </a:r>
            <a:endParaRPr lang="en-US" sz="1400" dirty="0"/>
          </a:p>
        </p:txBody>
      </p:sp>
      <p:sp>
        <p:nvSpPr>
          <p:cNvPr id="4" name="Text 2"/>
          <p:cNvSpPr/>
          <p:nvPr/>
        </p:nvSpPr>
        <p:spPr>
          <a:xfrm>
            <a:off x="4114800" y="1737360"/>
            <a:ext cx="4572000" cy="822960"/>
          </a:xfrm>
          <a:prstGeom prst="rect">
            <a:avLst/>
          </a:prstGeom>
          <a:noFill/>
          <a:ln/>
        </p:spPr>
        <p:txBody>
          <a:bodyPr wrap="square" lIns="0" tIns="0" rIns="0" bIns="0" rtlCol="0" anchor="ctr"/>
          <a:lstStyle/>
          <a:p>
            <a:pPr indent="0" marL="0">
              <a:buNone/>
            </a:pPr>
            <a:r>
              <a:rPr lang="en-US" sz="3600" b="1" dirty="0">
                <a:solidFill>
                  <a:srgbClr val="F1F5F9"/>
                </a:solidFill>
                <a:latin typeface="Cambria" pitchFamily="34" charset="0"/>
                <a:ea typeface="Cambria" pitchFamily="34" charset="-122"/>
                <a:cs typeface="Cambria" pitchFamily="34" charset="-120"/>
              </a:rPr>
              <a:t>Feed the Brain</a:t>
            </a:r>
            <a:endParaRPr lang="en-US" sz="3600" dirty="0"/>
          </a:p>
        </p:txBody>
      </p:sp>
      <p:sp>
        <p:nvSpPr>
          <p:cNvPr id="5" name="Text 3"/>
          <p:cNvSpPr/>
          <p:nvPr/>
        </p:nvSpPr>
        <p:spPr>
          <a:xfrm>
            <a:off x="4114800" y="2606040"/>
            <a:ext cx="4572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Ingest, query, then test compounding</a:t>
            </a:r>
            <a:endParaRPr lang="en-US" sz="1400" dirty="0"/>
          </a:p>
        </p:txBody>
      </p:sp>
      <p:sp>
        <p:nvSpPr>
          <p:cNvPr id="6" name="Text 4"/>
          <p:cNvSpPr/>
          <p:nvPr/>
        </p:nvSpPr>
        <p:spPr>
          <a:xfrm>
            <a:off x="4114800" y="3063240"/>
            <a:ext cx="4572000" cy="274320"/>
          </a:xfrm>
          <a:prstGeom prst="rect">
            <a:avLst/>
          </a:prstGeom>
          <a:noFill/>
          <a:ln/>
        </p:spPr>
        <p:txBody>
          <a:bodyPr wrap="square" lIns="0" tIns="0" rIns="0" bIns="0" rtlCol="0" anchor="ctr"/>
          <a:lstStyle/>
          <a:p>
            <a:pPr indent="0" marL="0">
              <a:buNone/>
            </a:pPr>
            <a:r>
              <a:rPr lang="en-US" sz="1200" i="1" dirty="0">
                <a:solidFill>
                  <a:srgbClr val="14B8A6"/>
                </a:solidFill>
                <a:latin typeface="Calibri" pitchFamily="34" charset="0"/>
                <a:ea typeface="Calibri" pitchFamily="34" charset="-122"/>
                <a:cs typeface="Calibri" pitchFamily="34" charset="-120"/>
              </a:rPr>
              <a:t>~10 min</a:t>
            </a:r>
            <a:endParaRPr lang="en-US" sz="1200" dirty="0"/>
          </a:p>
        </p:txBody>
      </p:sp>
      <p:sp>
        <p:nvSpPr>
          <p:cNvPr id="7" name="Shape 5"/>
          <p:cNvSpPr/>
          <p:nvPr/>
        </p:nvSpPr>
        <p:spPr>
          <a:xfrm>
            <a:off x="457200" y="4114800"/>
            <a:ext cx="8229600" cy="502920"/>
          </a:xfrm>
          <a:prstGeom prst="rect">
            <a:avLst/>
          </a:prstGeom>
          <a:solidFill>
            <a:srgbClr val="1E293B"/>
          </a:solidFill>
          <a:ln w="12700">
            <a:solidFill>
              <a:srgbClr val="0D9488"/>
            </a:solidFill>
            <a:prstDash val="solid"/>
          </a:ln>
        </p:spPr>
      </p:sp>
      <p:sp>
        <p:nvSpPr>
          <p:cNvPr id="8" name="Text 6"/>
          <p:cNvSpPr/>
          <p:nvPr/>
        </p:nvSpPr>
        <p:spPr>
          <a:xfrm>
            <a:off x="457200" y="4114800"/>
            <a:ext cx="8229600" cy="502920"/>
          </a:xfrm>
          <a:prstGeom prst="rect">
            <a:avLst/>
          </a:prstGeom>
          <a:noFill/>
          <a:ln/>
        </p:spPr>
        <p:txBody>
          <a:bodyPr wrap="square" lIns="0" tIns="0" rIns="0" bIns="0" rtlCol="0" anchor="ctr"/>
          <a:lstStyle/>
          <a:p>
            <a:pPr algn="ctr" indent="0" marL="0">
              <a:buNone/>
            </a:pPr>
            <a:r>
              <a:rPr lang="en-US" sz="1200" i="1" dirty="0">
                <a:solidFill>
                  <a:srgbClr val="F1F5F9"/>
                </a:solidFill>
                <a:latin typeface="Calibri" pitchFamily="34" charset="0"/>
                <a:ea typeface="Calibri" pitchFamily="34" charset="-122"/>
                <a:cs typeface="Calibri" pitchFamily="34" charset="-120"/>
              </a:rPr>
              <a:t>👉  Open the worksheet, follow Activity 5. Return when you hit ✅</a:t>
            </a:r>
            <a:endParaRPr lang="en-US" sz="1200" dirty="0"/>
          </a:p>
        </p:txBody>
      </p:sp>
      <p:sp>
        <p:nvSpPr>
          <p:cNvPr id="10" name="Shape 7"/>
          <p:cNvSpPr/>
          <p:nvPr/>
        </p:nvSpPr>
        <p:spPr>
          <a:xfrm>
            <a:off x="457200" y="4864608"/>
            <a:ext cx="91440" cy="91440"/>
          </a:xfrm>
          <a:prstGeom prst="rect">
            <a:avLst/>
          </a:prstGeom>
          <a:solidFill>
            <a:srgbClr val="0D9488"/>
          </a:solidFill>
          <a:ln w="12700">
            <a:solidFill>
              <a:srgbClr val="0D9488"/>
            </a:solidFill>
            <a:prstDash val="solid"/>
          </a:ln>
        </p:spPr>
      </p:sp>
      <p:sp>
        <p:nvSpPr>
          <p:cNvPr id="11" name="Text 8"/>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2" name="Text 9"/>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18 / 25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THE AHA MOMENT</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Watch the wiki self-populate.</a:t>
            </a:r>
            <a:endParaRPr lang="en-US" sz="3200" dirty="0"/>
          </a:p>
        </p:txBody>
      </p:sp>
      <p:sp>
        <p:nvSpPr>
          <p:cNvPr id="4" name="Text 2"/>
          <p:cNvSpPr/>
          <p:nvPr/>
        </p:nvSpPr>
        <p:spPr>
          <a:xfrm>
            <a:off x="457200" y="1417320"/>
            <a:ext cx="4023360" cy="274320"/>
          </a:xfrm>
          <a:prstGeom prst="rect">
            <a:avLst/>
          </a:prstGeom>
          <a:noFill/>
          <a:ln/>
        </p:spPr>
        <p:txBody>
          <a:bodyPr wrap="square" lIns="0" tIns="0" rIns="0" bIns="0" rtlCol="0" anchor="ctr"/>
          <a:lstStyle/>
          <a:p>
            <a:pPr indent="0" marL="0">
              <a:buNone/>
            </a:pPr>
            <a:r>
              <a:rPr lang="en-US" sz="1000" b="1" spc="400" kern="0" dirty="0">
                <a:solidFill>
                  <a:srgbClr val="64748B"/>
                </a:solidFill>
                <a:latin typeface="Calibri" pitchFamily="34" charset="0"/>
                <a:ea typeface="Calibri" pitchFamily="34" charset="-122"/>
                <a:cs typeface="Calibri" pitchFamily="34" charset="-120"/>
              </a:rPr>
              <a:t>BEFORE</a:t>
            </a:r>
            <a:endParaRPr lang="en-US" sz="1000" dirty="0"/>
          </a:p>
        </p:txBody>
      </p:sp>
      <p:sp>
        <p:nvSpPr>
          <p:cNvPr id="5" name="Shape 3"/>
          <p:cNvSpPr/>
          <p:nvPr/>
        </p:nvSpPr>
        <p:spPr>
          <a:xfrm>
            <a:off x="457200" y="1737360"/>
            <a:ext cx="4023360" cy="2560320"/>
          </a:xfrm>
          <a:prstGeom prst="rect">
            <a:avLst/>
          </a:prstGeom>
          <a:solidFill>
            <a:srgbClr val="F8FAFC"/>
          </a:solidFill>
          <a:ln w="12700">
            <a:solidFill>
              <a:srgbClr val="E2E8F0"/>
            </a:solidFill>
            <a:prstDash val="solid"/>
          </a:ln>
        </p:spPr>
      </p:sp>
      <p:sp>
        <p:nvSpPr>
          <p:cNvPr id="6" name="Text 4"/>
          <p:cNvSpPr/>
          <p:nvPr/>
        </p:nvSpPr>
        <p:spPr>
          <a:xfrm>
            <a:off x="640080" y="1874520"/>
            <a:ext cx="3657600" cy="2286000"/>
          </a:xfrm>
          <a:prstGeom prst="rect">
            <a:avLst/>
          </a:prstGeom>
          <a:noFill/>
          <a:ln/>
        </p:spPr>
        <p:txBody>
          <a:bodyPr wrap="square" lIns="0" tIns="0" rIns="0" bIns="0" rtlCol="0" anchor="ctr"/>
          <a:lstStyle/>
          <a:p>
            <a:pPr indent="0" marL="0">
              <a:buNone/>
            </a:pPr>
            <a:r>
              <a:rPr lang="en-US" sz="1300" dirty="0">
                <a:solidFill>
                  <a:srgbClr val="64748B"/>
                </a:solidFill>
                <a:latin typeface="Consolas" pitchFamily="34" charset="0"/>
                <a:ea typeface="Consolas" pitchFamily="34" charset="-122"/>
                <a:cs typeface="Consolas" pitchFamily="34" charset="-120"/>
              </a:rPr>
              <a:t>## Mental Models</a:t>
            </a:r>
            <a:endParaRPr lang="en-US" sz="1300" dirty="0"/>
          </a:p>
          <a:p>
            <a:pPr indent="0" marL="0">
              <a:buNone/>
            </a:pPr>
            <a:r>
              <a:rPr lang="en-US" sz="1300" dirty="0">
                <a:solidFill>
                  <a:srgbClr val="64748B"/>
                </a:solidFill>
                <a:latin typeface="Consolas" pitchFamily="34" charset="0"/>
                <a:ea typeface="Consolas" pitchFamily="34" charset="-122"/>
                <a:cs typeface="Consolas" pitchFamily="34" charset="-120"/>
              </a:rPr>
              <a:t>*(no entries yet)*</a:t>
            </a:r>
            <a:endParaRPr lang="en-US" sz="1300" dirty="0"/>
          </a:p>
          <a:p>
            <a:pPr indent="0" marL="0">
              <a:buNone/>
            </a:pPr>
            <a:endParaRPr lang="en-US" sz="1300" dirty="0"/>
          </a:p>
          <a:p>
            <a:pPr indent="0" marL="0">
              <a:buNone/>
            </a:pPr>
            <a:r>
              <a:rPr lang="en-US" sz="1300" dirty="0">
                <a:solidFill>
                  <a:srgbClr val="64748B"/>
                </a:solidFill>
                <a:latin typeface="Consolas" pitchFamily="34" charset="0"/>
                <a:ea typeface="Consolas" pitchFamily="34" charset="-122"/>
                <a:cs typeface="Consolas" pitchFamily="34" charset="-120"/>
              </a:rPr>
              <a:t>## Sources</a:t>
            </a:r>
            <a:endParaRPr lang="en-US" sz="1300" dirty="0"/>
          </a:p>
          <a:p>
            <a:pPr indent="0" marL="0">
              <a:buNone/>
            </a:pPr>
            <a:r>
              <a:rPr lang="en-US" sz="1300" dirty="0">
                <a:solidFill>
                  <a:srgbClr val="64748B"/>
                </a:solidFill>
                <a:latin typeface="Consolas" pitchFamily="34" charset="0"/>
                <a:ea typeface="Consolas" pitchFamily="34" charset="-122"/>
                <a:cs typeface="Consolas" pitchFamily="34" charset="-120"/>
              </a:rPr>
              <a:t>*(no entries yet)*</a:t>
            </a:r>
            <a:endParaRPr lang="en-US" sz="1300" dirty="0"/>
          </a:p>
          <a:p>
            <a:pPr indent="0" marL="0">
              <a:buNone/>
            </a:pPr>
            <a:endParaRPr lang="en-US" sz="1300" dirty="0"/>
          </a:p>
          <a:p>
            <a:pPr indent="0" marL="0">
              <a:buNone/>
            </a:pPr>
            <a:r>
              <a:rPr lang="en-US" sz="1300" dirty="0">
                <a:solidFill>
                  <a:srgbClr val="64748B"/>
                </a:solidFill>
                <a:latin typeface="Consolas" pitchFamily="34" charset="0"/>
                <a:ea typeface="Consolas" pitchFamily="34" charset="-122"/>
                <a:cs typeface="Consolas" pitchFamily="34" charset="-120"/>
              </a:rPr>
              <a:t>## Index</a:t>
            </a:r>
            <a:endParaRPr lang="en-US" sz="1300" dirty="0"/>
          </a:p>
          <a:p>
            <a:pPr indent="0" marL="0">
              <a:buNone/>
            </a:pPr>
            <a:r>
              <a:rPr lang="en-US" sz="1300" dirty="0">
                <a:solidFill>
                  <a:srgbClr val="64748B"/>
                </a:solidFill>
                <a:latin typeface="Consolas" pitchFamily="34" charset="0"/>
                <a:ea typeface="Consolas" pitchFamily="34" charset="-122"/>
                <a:cs typeface="Consolas" pitchFamily="34" charset="-120"/>
              </a:rPr>
              <a:t>*(no entries yet)*</a:t>
            </a:r>
            <a:endParaRPr lang="en-US" sz="1300" dirty="0"/>
          </a:p>
        </p:txBody>
      </p:sp>
      <p:sp>
        <p:nvSpPr>
          <p:cNvPr id="7" name="Shape 5"/>
          <p:cNvSpPr/>
          <p:nvPr/>
        </p:nvSpPr>
        <p:spPr>
          <a:xfrm>
            <a:off x="4526280" y="2971800"/>
            <a:ext cx="502920" cy="0"/>
          </a:xfrm>
          <a:prstGeom prst="line">
            <a:avLst/>
          </a:prstGeom>
          <a:noFill/>
          <a:ln w="50800">
            <a:solidFill>
              <a:srgbClr val="0D9488"/>
            </a:solidFill>
            <a:prstDash val="solid"/>
            <a:tailEnd type="triangle"/>
          </a:ln>
        </p:spPr>
      </p:sp>
      <p:sp>
        <p:nvSpPr>
          <p:cNvPr id="8" name="Text 6"/>
          <p:cNvSpPr/>
          <p:nvPr/>
        </p:nvSpPr>
        <p:spPr>
          <a:xfrm>
            <a:off x="4434840" y="2514600"/>
            <a:ext cx="685800" cy="365760"/>
          </a:xfrm>
          <a:prstGeom prst="rect">
            <a:avLst/>
          </a:prstGeom>
          <a:noFill/>
          <a:ln/>
        </p:spPr>
        <p:txBody>
          <a:bodyPr wrap="square" lIns="0" tIns="0" rIns="0" bIns="0" rtlCol="0" anchor="ctr"/>
          <a:lstStyle/>
          <a:p>
            <a:pPr algn="ctr" indent="0" marL="0">
              <a:buNone/>
            </a:pPr>
            <a:r>
              <a:rPr lang="en-US" sz="900" i="1" dirty="0">
                <a:solidFill>
                  <a:srgbClr val="0D9488"/>
                </a:solidFill>
                <a:latin typeface="Calibri" pitchFamily="34" charset="0"/>
                <a:ea typeface="Calibri" pitchFamily="34" charset="-122"/>
                <a:cs typeface="Calibri" pitchFamily="34" charset="-120"/>
              </a:rPr>
              <a:t>ingest</a:t>
            </a:r>
            <a:endParaRPr lang="en-US" sz="900" dirty="0"/>
          </a:p>
          <a:p>
            <a:pPr algn="ctr" indent="0" marL="0">
              <a:buNone/>
            </a:pPr>
            <a:r>
              <a:rPr lang="en-US" sz="900" i="1" dirty="0">
                <a:solidFill>
                  <a:srgbClr val="0D9488"/>
                </a:solidFill>
                <a:latin typeface="Calibri" pitchFamily="34" charset="0"/>
                <a:ea typeface="Calibri" pitchFamily="34" charset="-122"/>
                <a:cs typeface="Calibri" pitchFamily="34" charset="-120"/>
              </a:rPr>
              <a:t>1 paragraph</a:t>
            </a:r>
            <a:endParaRPr lang="en-US" sz="900" dirty="0"/>
          </a:p>
        </p:txBody>
      </p:sp>
      <p:sp>
        <p:nvSpPr>
          <p:cNvPr id="9" name="Text 7"/>
          <p:cNvSpPr/>
          <p:nvPr/>
        </p:nvSpPr>
        <p:spPr>
          <a:xfrm>
            <a:off x="5120640" y="1417320"/>
            <a:ext cx="3657600" cy="27432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AFTER ONE INGEST</a:t>
            </a:r>
            <a:endParaRPr lang="en-US" sz="1000" dirty="0"/>
          </a:p>
        </p:txBody>
      </p:sp>
      <p:sp>
        <p:nvSpPr>
          <p:cNvPr id="10" name="Shape 8"/>
          <p:cNvSpPr/>
          <p:nvPr/>
        </p:nvSpPr>
        <p:spPr>
          <a:xfrm>
            <a:off x="5120640" y="1737360"/>
            <a:ext cx="3566160" cy="2560320"/>
          </a:xfrm>
          <a:prstGeom prst="rect">
            <a:avLst/>
          </a:prstGeom>
          <a:solidFill>
            <a:srgbClr val="CCFBF1"/>
          </a:solidFill>
          <a:ln w="12700">
            <a:solidFill>
              <a:srgbClr val="0D9488"/>
            </a:solidFill>
            <a:prstDash val="solid"/>
          </a:ln>
        </p:spPr>
      </p:sp>
      <p:sp>
        <p:nvSpPr>
          <p:cNvPr id="11" name="Text 9"/>
          <p:cNvSpPr/>
          <p:nvPr/>
        </p:nvSpPr>
        <p:spPr>
          <a:xfrm>
            <a:off x="5303520" y="1874520"/>
            <a:ext cx="3291840" cy="2286000"/>
          </a:xfrm>
          <a:prstGeom prst="rect">
            <a:avLst/>
          </a:prstGeom>
          <a:noFill/>
          <a:ln/>
        </p:spPr>
        <p:txBody>
          <a:bodyPr wrap="square" lIns="0" tIns="0" rIns="0" bIns="0" rtlCol="0" anchor="ctr"/>
          <a:lstStyle/>
          <a:p>
            <a:pPr indent="0" marL="0">
              <a:buNone/>
            </a:pPr>
            <a:r>
              <a:rPr lang="en-US" sz="1000" b="1" dirty="0">
                <a:solidFill>
                  <a:srgbClr val="1E293B"/>
                </a:solidFill>
                <a:latin typeface="Consolas" pitchFamily="34" charset="0"/>
                <a:ea typeface="Consolas" pitchFamily="34" charset="-122"/>
                <a:cs typeface="Consolas" pitchFamily="34" charset="-120"/>
              </a:rPr>
              <a:t>## Mental Models</a:t>
            </a:r>
            <a:endParaRPr lang="en-US" sz="1000" dirty="0"/>
          </a:p>
          <a:p>
            <a:pPr indent="0" marL="0">
              <a:buNone/>
            </a:pPr>
            <a:r>
              <a:rPr lang="en-US" sz="1000" b="1" dirty="0">
                <a:solidFill>
                  <a:srgbClr val="1E293B"/>
                </a:solidFill>
                <a:latin typeface="Consolas" pitchFamily="34" charset="0"/>
                <a:ea typeface="Consolas" pitchFamily="34" charset="-122"/>
                <a:cs typeface="Consolas" pitchFamily="34" charset="-120"/>
              </a:rPr>
              <a:t>### LLM Persistent Wiki</a:t>
            </a:r>
            <a:endParaRPr lang="en-US" sz="1000" dirty="0"/>
          </a:p>
          <a:p>
            <a:pPr indent="0" marL="0">
              <a:buNone/>
            </a:pPr>
            <a:r>
              <a:rPr lang="en-US" sz="1000" dirty="0">
                <a:solidFill>
                  <a:srgbClr val="1E293B"/>
                </a:solidFill>
                <a:latin typeface="Consolas" pitchFamily="34" charset="0"/>
                <a:ea typeface="Consolas" pitchFamily="34" charset="-122"/>
                <a:cs typeface="Consolas" pitchFamily="34" charset="-120"/>
              </a:rPr>
              <a:t>An LLM incrementally builds a</a:t>
            </a:r>
            <a:endParaRPr lang="en-US" sz="1000" dirty="0"/>
          </a:p>
          <a:p>
            <a:pPr indent="0" marL="0">
              <a:buNone/>
            </a:pPr>
            <a:r>
              <a:rPr lang="en-US" sz="1000" dirty="0">
                <a:solidFill>
                  <a:srgbClr val="1E293B"/>
                </a:solidFill>
                <a:latin typeface="Consolas" pitchFamily="34" charset="0"/>
                <a:ea typeface="Consolas" pitchFamily="34" charset="-122"/>
                <a:cs typeface="Consolas" pitchFamily="34" charset="-120"/>
              </a:rPr>
              <a:t>structured wiki from sources...</a:t>
            </a:r>
            <a:endParaRPr lang="en-US" sz="1000" dirty="0"/>
          </a:p>
          <a:p>
            <a:pPr indent="0" marL="0">
              <a:buNone/>
            </a:pPr>
            <a:r>
              <a:rPr lang="en-US" sz="1000" dirty="0">
                <a:solidFill>
                  <a:srgbClr val="64748B"/>
                </a:solidFill>
                <a:latin typeface="Consolas" pitchFamily="34" charset="0"/>
                <a:ea typeface="Consolas" pitchFamily="34" charset="-122"/>
                <a:cs typeface="Consolas" pitchFamily="34" charset="-120"/>
              </a:rPr>
              <a:t>*Source*: Karpathy gist</a:t>
            </a:r>
            <a:endParaRPr lang="en-US" sz="1000" dirty="0"/>
          </a:p>
          <a:p>
            <a:pPr indent="0" marL="0">
              <a:buNone/>
            </a:pPr>
            <a:r>
              <a:rPr lang="en-US" sz="1000" dirty="0">
                <a:solidFill>
                  <a:srgbClr val="64748B"/>
                </a:solidFill>
                <a:latin typeface="Consolas" pitchFamily="34" charset="0"/>
                <a:ea typeface="Consolas" pitchFamily="34" charset="-122"/>
                <a:cs typeface="Consolas" pitchFamily="34" charset="-120"/>
              </a:rPr>
              <a:t>*Quotes*: "LLMs don't get bored"</a:t>
            </a:r>
            <a:endParaRPr lang="en-US" sz="1000" dirty="0"/>
          </a:p>
          <a:p>
            <a:pPr indent="0" marL="0">
              <a:buNone/>
            </a:pPr>
            <a:r>
              <a:rPr lang="en-US" sz="1000" dirty="0">
                <a:solidFill>
                  <a:srgbClr val="000000"/>
                </a:solidFill>
                <a:latin typeface="Consolas" pitchFamily="34" charset="0"/>
                <a:ea typeface="Consolas" pitchFamily="34" charset="-122"/>
                <a:cs typeface="Consolas" pitchFamily="34" charset="-120"/>
              </a:rPr>
              <a:t> </a:t>
            </a:r>
            <a:endParaRPr lang="en-US" sz="1000" dirty="0"/>
          </a:p>
          <a:p>
            <a:pPr indent="0" marL="0">
              <a:buNone/>
            </a:pPr>
            <a:r>
              <a:rPr lang="en-US" sz="1000" b="1" dirty="0">
                <a:solidFill>
                  <a:srgbClr val="1E293B"/>
                </a:solidFill>
                <a:latin typeface="Consolas" pitchFamily="34" charset="0"/>
                <a:ea typeface="Consolas" pitchFamily="34" charset="-122"/>
                <a:cs typeface="Consolas" pitchFamily="34" charset="-120"/>
              </a:rPr>
              <a:t>## Sources</a:t>
            </a:r>
            <a:endParaRPr lang="en-US" sz="1000" dirty="0"/>
          </a:p>
          <a:p>
            <a:pPr indent="0" marL="0">
              <a:buNone/>
            </a:pPr>
            <a:r>
              <a:rPr lang="en-US" sz="1000" dirty="0">
                <a:solidFill>
                  <a:srgbClr val="1E293B"/>
                </a:solidFill>
                <a:latin typeface="Consolas" pitchFamily="34" charset="0"/>
                <a:ea typeface="Consolas" pitchFamily="34" charset="-122"/>
                <a:cs typeface="Consolas" pitchFamily="34" charset="-120"/>
              </a:rPr>
              <a:t>- LLM Wiki (Karpathy, 2025)</a:t>
            </a:r>
            <a:endParaRPr lang="en-US" sz="1000" dirty="0"/>
          </a:p>
        </p:txBody>
      </p:sp>
      <p:sp>
        <p:nvSpPr>
          <p:cNvPr id="12" name="Text 10"/>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Just markdown. You can open it in any editor and read every word the AI wrote.</a:t>
            </a:r>
            <a:endParaRPr lang="en-US" sz="1200" dirty="0"/>
          </a:p>
        </p:txBody>
      </p:sp>
      <p:sp>
        <p:nvSpPr>
          <p:cNvPr id="14" name="Shape 11"/>
          <p:cNvSpPr/>
          <p:nvPr/>
        </p:nvSpPr>
        <p:spPr>
          <a:xfrm>
            <a:off x="457200" y="4864608"/>
            <a:ext cx="91440" cy="91440"/>
          </a:xfrm>
          <a:prstGeom prst="rect">
            <a:avLst/>
          </a:prstGeom>
          <a:solidFill>
            <a:srgbClr val="0D9488"/>
          </a:solidFill>
          <a:ln w="12700">
            <a:solidFill>
              <a:srgbClr val="0D9488"/>
            </a:solidFill>
            <a:prstDash val="solid"/>
          </a:ln>
        </p:spPr>
      </p:sp>
      <p:sp>
        <p:nvSpPr>
          <p:cNvPr id="15" name="Text 12"/>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16" name="Text 13"/>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 / 25</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THE OTHER AHA MOMENT</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The wiki self-heals (with your approval).</a:t>
            </a:r>
            <a:endParaRPr lang="en-US" sz="3200" dirty="0"/>
          </a:p>
        </p:txBody>
      </p:sp>
      <p:sp>
        <p:nvSpPr>
          <p:cNvPr id="4" name="Shape 2"/>
          <p:cNvSpPr/>
          <p:nvPr/>
        </p:nvSpPr>
        <p:spPr>
          <a:xfrm>
            <a:off x="457200" y="1417320"/>
            <a:ext cx="731520" cy="502920"/>
          </a:xfrm>
          <a:prstGeom prst="rect">
            <a:avLst/>
          </a:prstGeom>
          <a:solidFill>
            <a:srgbClr val="0D9488"/>
          </a:solidFill>
          <a:ln w="12700">
            <a:solidFill>
              <a:srgbClr val="0D9488"/>
            </a:solidFill>
            <a:prstDash val="solid"/>
          </a:ln>
        </p:spPr>
      </p:sp>
      <p:sp>
        <p:nvSpPr>
          <p:cNvPr id="5" name="Text 3"/>
          <p:cNvSpPr/>
          <p:nvPr/>
        </p:nvSpPr>
        <p:spPr>
          <a:xfrm>
            <a:off x="457200" y="1417320"/>
            <a:ext cx="7315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a:t>
            </a:r>
            <a:endParaRPr lang="en-US" sz="1100" dirty="0"/>
          </a:p>
        </p:txBody>
      </p:sp>
      <p:sp>
        <p:nvSpPr>
          <p:cNvPr id="6" name="Shape 4"/>
          <p:cNvSpPr/>
          <p:nvPr/>
        </p:nvSpPr>
        <p:spPr>
          <a:xfrm>
            <a:off x="1280160" y="1417320"/>
            <a:ext cx="7406640" cy="502920"/>
          </a:xfrm>
          <a:prstGeom prst="rect">
            <a:avLst/>
          </a:prstGeom>
          <a:solidFill>
            <a:srgbClr val="F8FAFC"/>
          </a:solidFill>
          <a:ln w="12700">
            <a:solidFill>
              <a:srgbClr val="E2E8F0"/>
            </a:solidFill>
            <a:prstDash val="solid"/>
          </a:ln>
        </p:spPr>
      </p:sp>
      <p:sp>
        <p:nvSpPr>
          <p:cNvPr id="7" name="Text 5"/>
          <p:cNvSpPr/>
          <p:nvPr/>
        </p:nvSpPr>
        <p:spPr>
          <a:xfrm>
            <a:off x="1417320" y="1417320"/>
            <a:ext cx="722376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lint the journal</a:t>
            </a:r>
            <a:endParaRPr lang="en-US" sz="1300" dirty="0"/>
          </a:p>
        </p:txBody>
      </p:sp>
      <p:sp>
        <p:nvSpPr>
          <p:cNvPr id="8" name="Shape 6"/>
          <p:cNvSpPr/>
          <p:nvPr/>
        </p:nvSpPr>
        <p:spPr>
          <a:xfrm>
            <a:off x="457200" y="1984248"/>
            <a:ext cx="731520" cy="502920"/>
          </a:xfrm>
          <a:prstGeom prst="rect">
            <a:avLst/>
          </a:prstGeom>
          <a:solidFill>
            <a:srgbClr val="0F172A"/>
          </a:solidFill>
          <a:ln w="12700">
            <a:solidFill>
              <a:srgbClr val="0F172A"/>
            </a:solidFill>
            <a:prstDash val="solid"/>
          </a:ln>
        </p:spPr>
      </p:sp>
      <p:sp>
        <p:nvSpPr>
          <p:cNvPr id="9" name="Text 7"/>
          <p:cNvSpPr/>
          <p:nvPr/>
        </p:nvSpPr>
        <p:spPr>
          <a:xfrm>
            <a:off x="457200" y="1984248"/>
            <a:ext cx="7315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BOT</a:t>
            </a:r>
            <a:endParaRPr lang="en-US" sz="1100" dirty="0"/>
          </a:p>
        </p:txBody>
      </p:sp>
      <p:sp>
        <p:nvSpPr>
          <p:cNvPr id="10" name="Shape 8"/>
          <p:cNvSpPr/>
          <p:nvPr/>
        </p:nvSpPr>
        <p:spPr>
          <a:xfrm>
            <a:off x="1280160" y="1984248"/>
            <a:ext cx="7406640" cy="502920"/>
          </a:xfrm>
          <a:prstGeom prst="rect">
            <a:avLst/>
          </a:prstGeom>
          <a:solidFill>
            <a:srgbClr val="F8FAFC"/>
          </a:solidFill>
          <a:ln w="12700">
            <a:solidFill>
              <a:srgbClr val="E2E8F0"/>
            </a:solidFill>
            <a:prstDash val="solid"/>
          </a:ln>
        </p:spPr>
      </p:sp>
      <p:sp>
        <p:nvSpPr>
          <p:cNvPr id="11" name="Text 9"/>
          <p:cNvSpPr/>
          <p:nvPr/>
        </p:nvSpPr>
        <p:spPr>
          <a:xfrm>
            <a:off x="1417320" y="1984248"/>
            <a:ext cx="722376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Found 1 thin entry + 1 missing cross-reference. Recommend: expand the Vibe Coding entry, link it to LLM Wiki pattern.</a:t>
            </a:r>
            <a:endParaRPr lang="en-US" sz="1300" dirty="0"/>
          </a:p>
        </p:txBody>
      </p:sp>
      <p:sp>
        <p:nvSpPr>
          <p:cNvPr id="12" name="Shape 10"/>
          <p:cNvSpPr/>
          <p:nvPr/>
        </p:nvSpPr>
        <p:spPr>
          <a:xfrm>
            <a:off x="457200" y="2551176"/>
            <a:ext cx="731520" cy="502920"/>
          </a:xfrm>
          <a:prstGeom prst="rect">
            <a:avLst/>
          </a:prstGeom>
          <a:solidFill>
            <a:srgbClr val="0D9488"/>
          </a:solidFill>
          <a:ln w="12700">
            <a:solidFill>
              <a:srgbClr val="0D9488"/>
            </a:solidFill>
            <a:prstDash val="solid"/>
          </a:ln>
        </p:spPr>
      </p:sp>
      <p:sp>
        <p:nvSpPr>
          <p:cNvPr id="13" name="Text 11"/>
          <p:cNvSpPr/>
          <p:nvPr/>
        </p:nvSpPr>
        <p:spPr>
          <a:xfrm>
            <a:off x="457200" y="2551176"/>
            <a:ext cx="7315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YOU</a:t>
            </a:r>
            <a:endParaRPr lang="en-US" sz="1100" dirty="0"/>
          </a:p>
        </p:txBody>
      </p:sp>
      <p:sp>
        <p:nvSpPr>
          <p:cNvPr id="14" name="Shape 12"/>
          <p:cNvSpPr/>
          <p:nvPr/>
        </p:nvSpPr>
        <p:spPr>
          <a:xfrm>
            <a:off x="1280160" y="2551176"/>
            <a:ext cx="7406640" cy="502920"/>
          </a:xfrm>
          <a:prstGeom prst="rect">
            <a:avLst/>
          </a:prstGeom>
          <a:solidFill>
            <a:srgbClr val="F8FAFC"/>
          </a:solidFill>
          <a:ln w="12700">
            <a:solidFill>
              <a:srgbClr val="E2E8F0"/>
            </a:solidFill>
            <a:prstDash val="solid"/>
          </a:ln>
        </p:spPr>
      </p:sp>
      <p:sp>
        <p:nvSpPr>
          <p:cNvPr id="15" name="Text 13"/>
          <p:cNvSpPr/>
          <p:nvPr/>
        </p:nvSpPr>
        <p:spPr>
          <a:xfrm>
            <a:off x="1417320" y="2551176"/>
            <a:ext cx="722376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Apply both fixes.</a:t>
            </a:r>
            <a:endParaRPr lang="en-US" sz="1300" dirty="0"/>
          </a:p>
        </p:txBody>
      </p:sp>
      <p:sp>
        <p:nvSpPr>
          <p:cNvPr id="16" name="Shape 14"/>
          <p:cNvSpPr/>
          <p:nvPr/>
        </p:nvSpPr>
        <p:spPr>
          <a:xfrm>
            <a:off x="457200" y="3118104"/>
            <a:ext cx="731520" cy="502920"/>
          </a:xfrm>
          <a:prstGeom prst="rect">
            <a:avLst/>
          </a:prstGeom>
          <a:solidFill>
            <a:srgbClr val="0F172A"/>
          </a:solidFill>
          <a:ln w="12700">
            <a:solidFill>
              <a:srgbClr val="0F172A"/>
            </a:solidFill>
            <a:prstDash val="solid"/>
          </a:ln>
        </p:spPr>
      </p:sp>
      <p:sp>
        <p:nvSpPr>
          <p:cNvPr id="17" name="Text 15"/>
          <p:cNvSpPr/>
          <p:nvPr/>
        </p:nvSpPr>
        <p:spPr>
          <a:xfrm>
            <a:off x="457200" y="3118104"/>
            <a:ext cx="7315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BOT</a:t>
            </a:r>
            <a:endParaRPr lang="en-US" sz="1100" dirty="0"/>
          </a:p>
        </p:txBody>
      </p:sp>
      <p:sp>
        <p:nvSpPr>
          <p:cNvPr id="18" name="Shape 16"/>
          <p:cNvSpPr/>
          <p:nvPr/>
        </p:nvSpPr>
        <p:spPr>
          <a:xfrm>
            <a:off x="1280160" y="3118104"/>
            <a:ext cx="7406640" cy="502920"/>
          </a:xfrm>
          <a:prstGeom prst="rect">
            <a:avLst/>
          </a:prstGeom>
          <a:solidFill>
            <a:srgbClr val="F8FAFC"/>
          </a:solidFill>
          <a:ln w="12700">
            <a:solidFill>
              <a:srgbClr val="E2E8F0"/>
            </a:solidFill>
            <a:prstDash val="solid"/>
          </a:ln>
        </p:spPr>
      </p:sp>
      <p:sp>
        <p:nvSpPr>
          <p:cNvPr id="19" name="Text 17"/>
          <p:cNvSpPr/>
          <p:nvPr/>
        </p:nvSpPr>
        <p:spPr>
          <a:xfrm>
            <a:off x="1417320" y="3118104"/>
            <a:ext cx="7223760" cy="502920"/>
          </a:xfrm>
          <a:prstGeom prst="rect">
            <a:avLst/>
          </a:prstGeom>
          <a:noFill/>
          <a:ln/>
        </p:spPr>
        <p:txBody>
          <a:bodyPr wrap="square" lIns="0" tIns="0" rIns="0" bIns="0" rtlCol="0" anchor="ctr"/>
          <a:lstStyle/>
          <a:p>
            <a:pPr indent="0" marL="0">
              <a:buNone/>
            </a:pPr>
            <a:r>
              <a:rPr lang="en-US" sz="1300" dirty="0">
                <a:solidFill>
                  <a:srgbClr val="1E293B"/>
                </a:solidFill>
                <a:latin typeface="Consolas" pitchFamily="34" charset="0"/>
                <a:ea typeface="Consolas" pitchFamily="34" charset="-122"/>
                <a:cs typeface="Consolas" pitchFamily="34" charset="-120"/>
              </a:rPr>
              <a:t>[edit_file calls to MEMORY.md...]</a:t>
            </a:r>
            <a:endParaRPr lang="en-US" sz="1300" dirty="0"/>
          </a:p>
        </p:txBody>
      </p:sp>
      <p:sp>
        <p:nvSpPr>
          <p:cNvPr id="20" name="Shape 18"/>
          <p:cNvSpPr/>
          <p:nvPr/>
        </p:nvSpPr>
        <p:spPr>
          <a:xfrm>
            <a:off x="457200" y="3685032"/>
            <a:ext cx="731520" cy="502920"/>
          </a:xfrm>
          <a:prstGeom prst="rect">
            <a:avLst/>
          </a:prstGeom>
          <a:solidFill>
            <a:srgbClr val="10B981"/>
          </a:solidFill>
          <a:ln w="12700">
            <a:solidFill>
              <a:srgbClr val="10B981"/>
            </a:solidFill>
            <a:prstDash val="solid"/>
          </a:ln>
        </p:spPr>
      </p:sp>
      <p:sp>
        <p:nvSpPr>
          <p:cNvPr id="21" name="Text 19"/>
          <p:cNvSpPr/>
          <p:nvPr/>
        </p:nvSpPr>
        <p:spPr>
          <a:xfrm>
            <a:off x="457200" y="3685032"/>
            <a:ext cx="73152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WIKI</a:t>
            </a:r>
            <a:endParaRPr lang="en-US" sz="1100" dirty="0"/>
          </a:p>
        </p:txBody>
      </p:sp>
      <p:sp>
        <p:nvSpPr>
          <p:cNvPr id="22" name="Shape 20"/>
          <p:cNvSpPr/>
          <p:nvPr/>
        </p:nvSpPr>
        <p:spPr>
          <a:xfrm>
            <a:off x="1280160" y="3685032"/>
            <a:ext cx="7406640" cy="502920"/>
          </a:xfrm>
          <a:prstGeom prst="rect">
            <a:avLst/>
          </a:prstGeom>
          <a:solidFill>
            <a:srgbClr val="F8FAFC"/>
          </a:solidFill>
          <a:ln w="12700">
            <a:solidFill>
              <a:srgbClr val="E2E8F0"/>
            </a:solidFill>
            <a:prstDash val="solid"/>
          </a:ln>
        </p:spPr>
      </p:sp>
      <p:sp>
        <p:nvSpPr>
          <p:cNvPr id="23" name="Text 21"/>
          <p:cNvSpPr/>
          <p:nvPr/>
        </p:nvSpPr>
        <p:spPr>
          <a:xfrm>
            <a:off x="1417320" y="3685032"/>
            <a:ext cx="7223760" cy="50292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 Cleaned up.</a:t>
            </a:r>
            <a:endParaRPr lang="en-US" sz="1300" dirty="0"/>
          </a:p>
        </p:txBody>
      </p:sp>
      <p:sp>
        <p:nvSpPr>
          <p:cNvPr id="24" name="Text 22"/>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Schedule a daily lint → wiki stays clean forever, with zero work from you.</a:t>
            </a:r>
            <a:endParaRPr lang="en-US" sz="1200" dirty="0"/>
          </a:p>
        </p:txBody>
      </p:sp>
      <p:sp>
        <p:nvSpPr>
          <p:cNvPr id="26" name="Shape 23"/>
          <p:cNvSpPr/>
          <p:nvPr/>
        </p:nvSpPr>
        <p:spPr>
          <a:xfrm>
            <a:off x="457200" y="4864608"/>
            <a:ext cx="91440" cy="91440"/>
          </a:xfrm>
          <a:prstGeom prst="rect">
            <a:avLst/>
          </a:prstGeom>
          <a:solidFill>
            <a:srgbClr val="0D9488"/>
          </a:solidFill>
          <a:ln w="12700">
            <a:solidFill>
              <a:srgbClr val="0D9488"/>
            </a:solidFill>
            <a:prstDash val="solid"/>
          </a:ln>
        </p:spPr>
      </p:sp>
      <p:sp>
        <p:nvSpPr>
          <p:cNvPr id="27" name="Text 24"/>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8" name="Text 25"/>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 / 25</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WHERE THIS GOES NEXT</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From one agent to many.</a:t>
            </a:r>
            <a:endParaRPr lang="en-US" sz="3200" dirty="0"/>
          </a:p>
        </p:txBody>
      </p:sp>
      <p:sp>
        <p:nvSpPr>
          <p:cNvPr id="4" name="Shape 2"/>
          <p:cNvSpPr/>
          <p:nvPr/>
        </p:nvSpPr>
        <p:spPr>
          <a:xfrm>
            <a:off x="3840480" y="1371600"/>
            <a:ext cx="1463040" cy="640080"/>
          </a:xfrm>
          <a:prstGeom prst="rect">
            <a:avLst/>
          </a:prstGeom>
          <a:solidFill>
            <a:srgbClr val="0D9488"/>
          </a:solidFill>
          <a:ln w="12700">
            <a:solidFill>
              <a:srgbClr val="0D9488"/>
            </a:solidFill>
            <a:prstDash val="solid"/>
          </a:ln>
        </p:spPr>
      </p:sp>
      <p:sp>
        <p:nvSpPr>
          <p:cNvPr id="5" name="Text 3"/>
          <p:cNvSpPr/>
          <p:nvPr/>
        </p:nvSpPr>
        <p:spPr>
          <a:xfrm>
            <a:off x="3840480" y="1371600"/>
            <a:ext cx="146304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CURATOR</a:t>
            </a:r>
            <a:endParaRPr lang="en-US" sz="1300" dirty="0"/>
          </a:p>
        </p:txBody>
      </p:sp>
      <p:sp>
        <p:nvSpPr>
          <p:cNvPr id="6" name="Text 4"/>
          <p:cNvSpPr/>
          <p:nvPr/>
        </p:nvSpPr>
        <p:spPr>
          <a:xfrm>
            <a:off x="5486400" y="1536192"/>
            <a:ext cx="274320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 talks to you on Telegram</a:t>
            </a:r>
            <a:endParaRPr lang="en-US" sz="1100" dirty="0"/>
          </a:p>
        </p:txBody>
      </p:sp>
      <p:sp>
        <p:nvSpPr>
          <p:cNvPr id="7" name="Shape 5"/>
          <p:cNvSpPr/>
          <p:nvPr/>
        </p:nvSpPr>
        <p:spPr>
          <a:xfrm>
            <a:off x="2103120" y="2011680"/>
            <a:ext cx="0" cy="1005840"/>
          </a:xfrm>
          <a:prstGeom prst="line">
            <a:avLst/>
          </a:prstGeom>
          <a:noFill/>
          <a:ln w="25400">
            <a:solidFill>
              <a:srgbClr val="64748B"/>
            </a:solidFill>
            <a:prstDash val="solid"/>
            <a:tailEnd type="triangle"/>
          </a:ln>
        </p:spPr>
      </p:sp>
      <p:sp>
        <p:nvSpPr>
          <p:cNvPr id="8" name="Shape 6"/>
          <p:cNvSpPr/>
          <p:nvPr/>
        </p:nvSpPr>
        <p:spPr>
          <a:xfrm>
            <a:off x="1371600" y="3017520"/>
            <a:ext cx="1463040" cy="640080"/>
          </a:xfrm>
          <a:prstGeom prst="rect">
            <a:avLst/>
          </a:prstGeom>
          <a:solidFill>
            <a:srgbClr val="FFFFFF"/>
          </a:solidFill>
          <a:ln w="19050">
            <a:solidFill>
              <a:srgbClr val="64748B"/>
            </a:solidFill>
            <a:prstDash val="solid"/>
          </a:ln>
        </p:spPr>
      </p:sp>
      <p:sp>
        <p:nvSpPr>
          <p:cNvPr id="9" name="Text 7"/>
          <p:cNvSpPr/>
          <p:nvPr/>
        </p:nvSpPr>
        <p:spPr>
          <a:xfrm>
            <a:off x="1371600" y="3063240"/>
            <a:ext cx="146304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RESEARCHER</a:t>
            </a:r>
            <a:endParaRPr lang="en-US" sz="1100" dirty="0"/>
          </a:p>
        </p:txBody>
      </p:sp>
      <p:sp>
        <p:nvSpPr>
          <p:cNvPr id="10" name="Text 8"/>
          <p:cNvSpPr/>
          <p:nvPr/>
        </p:nvSpPr>
        <p:spPr>
          <a:xfrm>
            <a:off x="1371600" y="3383280"/>
            <a:ext cx="1463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(web tool)</a:t>
            </a:r>
            <a:endParaRPr lang="en-US" sz="900" dirty="0"/>
          </a:p>
        </p:txBody>
      </p:sp>
      <p:sp>
        <p:nvSpPr>
          <p:cNvPr id="11" name="Shape 9"/>
          <p:cNvSpPr/>
          <p:nvPr/>
        </p:nvSpPr>
        <p:spPr>
          <a:xfrm>
            <a:off x="4572000" y="2011680"/>
            <a:ext cx="0" cy="1005840"/>
          </a:xfrm>
          <a:prstGeom prst="line">
            <a:avLst/>
          </a:prstGeom>
          <a:noFill/>
          <a:ln w="25400">
            <a:solidFill>
              <a:srgbClr val="64748B"/>
            </a:solidFill>
            <a:prstDash val="solid"/>
            <a:tailEnd type="triangle"/>
          </a:ln>
        </p:spPr>
      </p:sp>
      <p:sp>
        <p:nvSpPr>
          <p:cNvPr id="12" name="Shape 10"/>
          <p:cNvSpPr/>
          <p:nvPr/>
        </p:nvSpPr>
        <p:spPr>
          <a:xfrm>
            <a:off x="3840480" y="3017520"/>
            <a:ext cx="1463040" cy="640080"/>
          </a:xfrm>
          <a:prstGeom prst="rect">
            <a:avLst/>
          </a:prstGeom>
          <a:solidFill>
            <a:srgbClr val="FFFFFF"/>
          </a:solidFill>
          <a:ln w="19050">
            <a:solidFill>
              <a:srgbClr val="64748B"/>
            </a:solidFill>
            <a:prstDash val="solid"/>
          </a:ln>
        </p:spPr>
      </p:sp>
      <p:sp>
        <p:nvSpPr>
          <p:cNvPr id="13" name="Text 11"/>
          <p:cNvSpPr/>
          <p:nvPr/>
        </p:nvSpPr>
        <p:spPr>
          <a:xfrm>
            <a:off x="3840480" y="3063240"/>
            <a:ext cx="146304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LINTER</a:t>
            </a:r>
            <a:endParaRPr lang="en-US" sz="1100" dirty="0"/>
          </a:p>
        </p:txBody>
      </p:sp>
      <p:sp>
        <p:nvSpPr>
          <p:cNvPr id="14" name="Text 12"/>
          <p:cNvSpPr/>
          <p:nvPr/>
        </p:nvSpPr>
        <p:spPr>
          <a:xfrm>
            <a:off x="3840480" y="3383280"/>
            <a:ext cx="1463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(qa)</a:t>
            </a:r>
            <a:endParaRPr lang="en-US" sz="900" dirty="0"/>
          </a:p>
        </p:txBody>
      </p:sp>
      <p:sp>
        <p:nvSpPr>
          <p:cNvPr id="15" name="Shape 13"/>
          <p:cNvSpPr/>
          <p:nvPr/>
        </p:nvSpPr>
        <p:spPr>
          <a:xfrm>
            <a:off x="7040880" y="2011680"/>
            <a:ext cx="0" cy="1005840"/>
          </a:xfrm>
          <a:prstGeom prst="line">
            <a:avLst/>
          </a:prstGeom>
          <a:noFill/>
          <a:ln w="25400">
            <a:solidFill>
              <a:srgbClr val="64748B"/>
            </a:solidFill>
            <a:prstDash val="solid"/>
            <a:tailEnd type="triangle"/>
          </a:ln>
        </p:spPr>
      </p:sp>
      <p:sp>
        <p:nvSpPr>
          <p:cNvPr id="16" name="Shape 14"/>
          <p:cNvSpPr/>
          <p:nvPr/>
        </p:nvSpPr>
        <p:spPr>
          <a:xfrm>
            <a:off x="6309360" y="3017520"/>
            <a:ext cx="1463040" cy="640080"/>
          </a:xfrm>
          <a:prstGeom prst="rect">
            <a:avLst/>
          </a:prstGeom>
          <a:solidFill>
            <a:srgbClr val="FFFFFF"/>
          </a:solidFill>
          <a:ln w="19050">
            <a:solidFill>
              <a:srgbClr val="64748B"/>
            </a:solidFill>
            <a:prstDash val="solid"/>
          </a:ln>
        </p:spPr>
      </p:sp>
      <p:sp>
        <p:nvSpPr>
          <p:cNvPr id="17" name="Text 15"/>
          <p:cNvSpPr/>
          <p:nvPr/>
        </p:nvSpPr>
        <p:spPr>
          <a:xfrm>
            <a:off x="6309360" y="3063240"/>
            <a:ext cx="1463040" cy="320040"/>
          </a:xfrm>
          <a:prstGeom prst="rect">
            <a:avLst/>
          </a:prstGeom>
          <a:noFill/>
          <a:ln/>
        </p:spPr>
        <p:txBody>
          <a:bodyPr wrap="square" lIns="0" tIns="0" rIns="0" bIns="0" rtlCol="0" anchor="ctr"/>
          <a:lstStyle/>
          <a:p>
            <a:pPr algn="ctr" indent="0" marL="0">
              <a:buNone/>
            </a:pPr>
            <a:r>
              <a:rPr lang="en-US" sz="1100" b="1" dirty="0">
                <a:solidFill>
                  <a:srgbClr val="1E293B"/>
                </a:solidFill>
                <a:latin typeface="Cambria" pitchFamily="34" charset="0"/>
                <a:ea typeface="Cambria" pitchFamily="34" charset="-122"/>
                <a:cs typeface="Cambria" pitchFamily="34" charset="-120"/>
              </a:rPr>
              <a:t>INGESTER</a:t>
            </a:r>
            <a:endParaRPr lang="en-US" sz="1100" dirty="0"/>
          </a:p>
        </p:txBody>
      </p:sp>
      <p:sp>
        <p:nvSpPr>
          <p:cNvPr id="18" name="Text 16"/>
          <p:cNvSpPr/>
          <p:nvPr/>
        </p:nvSpPr>
        <p:spPr>
          <a:xfrm>
            <a:off x="6309360" y="3383280"/>
            <a:ext cx="1463040" cy="2286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(large pdfs)</a:t>
            </a:r>
            <a:endParaRPr lang="en-US" sz="900" dirty="0"/>
          </a:p>
        </p:txBody>
      </p:sp>
      <p:sp>
        <p:nvSpPr>
          <p:cNvPr id="19" name="Shape 17"/>
          <p:cNvSpPr/>
          <p:nvPr/>
        </p:nvSpPr>
        <p:spPr>
          <a:xfrm>
            <a:off x="457200" y="3931920"/>
            <a:ext cx="8229600" cy="685800"/>
          </a:xfrm>
          <a:prstGeom prst="rect">
            <a:avLst/>
          </a:prstGeom>
          <a:solidFill>
            <a:srgbClr val="F8FAFC"/>
          </a:solidFill>
          <a:ln w="12700">
            <a:solidFill>
              <a:srgbClr val="E2E8F0"/>
            </a:solidFill>
            <a:prstDash val="solid"/>
          </a:ln>
        </p:spPr>
      </p:sp>
      <p:sp>
        <p:nvSpPr>
          <p:cNvPr id="20" name="Text 18"/>
          <p:cNvSpPr/>
          <p:nvPr/>
        </p:nvSpPr>
        <p:spPr>
          <a:xfrm>
            <a:off x="640080" y="3931920"/>
            <a:ext cx="7863840" cy="68580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Day one: </a:t>
            </a:r>
            <a:pPr indent="0" marL="0">
              <a:buNone/>
            </a:pPr>
            <a:r>
              <a:rPr lang="en-US" sz="1200" dirty="0">
                <a:solidFill>
                  <a:srgbClr val="64748B"/>
                </a:solidFill>
                <a:latin typeface="Calibri" pitchFamily="34" charset="0"/>
                <a:ea typeface="Calibri" pitchFamily="34" charset="-122"/>
                <a:cs typeface="Calibri" pitchFamily="34" charset="-120"/>
              </a:rPr>
              <a:t>one agent does everything. </a:t>
            </a:r>
            <a:pPr indent="0" marL="0">
              <a:buNone/>
            </a:pPr>
            <a:r>
              <a:rPr lang="en-US" sz="1200" b="1" dirty="0">
                <a:solidFill>
                  <a:srgbClr val="0D9488"/>
                </a:solidFill>
                <a:latin typeface="Calibri" pitchFamily="34" charset="0"/>
                <a:ea typeface="Calibri" pitchFamily="34" charset="-122"/>
                <a:cs typeface="Calibri" pitchFamily="34" charset="-120"/>
              </a:rPr>
              <a:t>Later: </a:t>
            </a:r>
            <a:pPr indent="0" marL="0">
              <a:buNone/>
            </a:pPr>
            <a:r>
              <a:rPr lang="en-US" sz="1200" dirty="0">
                <a:solidFill>
                  <a:srgbClr val="64748B"/>
                </a:solidFill>
                <a:latin typeface="Calibri" pitchFamily="34" charset="0"/>
                <a:ea typeface="Calibri" pitchFamily="34" charset="-122"/>
                <a:cs typeface="Calibri" pitchFamily="34" charset="-120"/>
              </a:rPr>
              <a:t>split into specialists. Use a cheap fast model for ingest, a smart slow model for synthesis. Parallelize.</a:t>
            </a:r>
            <a:endParaRPr lang="en-US" sz="1200" dirty="0"/>
          </a:p>
        </p:txBody>
      </p:sp>
      <p:sp>
        <p:nvSpPr>
          <p:cNvPr id="22" name="Shape 19"/>
          <p:cNvSpPr/>
          <p:nvPr/>
        </p:nvSpPr>
        <p:spPr>
          <a:xfrm>
            <a:off x="457200" y="4864608"/>
            <a:ext cx="91440" cy="91440"/>
          </a:xfrm>
          <a:prstGeom prst="rect">
            <a:avLst/>
          </a:prstGeom>
          <a:solidFill>
            <a:srgbClr val="0D9488"/>
          </a:solidFill>
          <a:ln w="12700">
            <a:solidFill>
              <a:srgbClr val="0D9488"/>
            </a:solidFill>
            <a:prstDash val="solid"/>
          </a:ln>
        </p:spPr>
      </p:sp>
      <p:sp>
        <p:nvSpPr>
          <p:cNvPr id="23" name="Text 20"/>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4" name="Text 21"/>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 / 25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GOING FURTHER</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Six one-day projects.</a:t>
            </a:r>
            <a:endParaRPr lang="en-US" sz="3200" dirty="0"/>
          </a:p>
        </p:txBody>
      </p:sp>
      <p:sp>
        <p:nvSpPr>
          <p:cNvPr id="4" name="Shape 2"/>
          <p:cNvSpPr/>
          <p:nvPr/>
        </p:nvSpPr>
        <p:spPr>
          <a:xfrm>
            <a:off x="457200" y="1508760"/>
            <a:ext cx="274320" cy="274320"/>
          </a:xfrm>
          <a:prstGeom prst="rect">
            <a:avLst/>
          </a:prstGeom>
          <a:solidFill>
            <a:srgbClr val="FFFFFF"/>
          </a:solidFill>
          <a:ln w="25400">
            <a:solidFill>
              <a:srgbClr val="0D9488"/>
            </a:solidFill>
            <a:prstDash val="solid"/>
          </a:ln>
        </p:spPr>
      </p:sp>
      <p:sp>
        <p:nvSpPr>
          <p:cNvPr id="5" name="Text 3"/>
          <p:cNvSpPr/>
          <p:nvPr/>
        </p:nvSpPr>
        <p:spPr>
          <a:xfrm>
            <a:off x="868680" y="1435608"/>
            <a:ext cx="3611880" cy="320040"/>
          </a:xfrm>
          <a:prstGeom prst="rect">
            <a:avLst/>
          </a:prstGeom>
          <a:noFill/>
          <a:ln/>
        </p:spPr>
        <p:txBody>
          <a:bodyPr wrap="square" lIns="0" tIns="0" rIns="0" bIns="0" rtlCol="0" anchor="ctr"/>
          <a:lstStyle/>
          <a:p>
            <a:pPr indent="0" marL="0">
              <a:buNone/>
            </a:pPr>
            <a:r>
              <a:rPr lang="en-US" sz="1400" b="1" dirty="0">
                <a:solidFill>
                  <a:srgbClr val="1E293B"/>
                </a:solidFill>
                <a:latin typeface="Cambria" pitchFamily="34" charset="0"/>
                <a:ea typeface="Cambria" pitchFamily="34" charset="-122"/>
                <a:cs typeface="Cambria" pitchFamily="34" charset="-120"/>
              </a:rPr>
              <a:t>Run gateway as a systemd service</a:t>
            </a:r>
            <a:endParaRPr lang="en-US" sz="1400" dirty="0"/>
          </a:p>
        </p:txBody>
      </p:sp>
      <p:sp>
        <p:nvSpPr>
          <p:cNvPr id="6" name="Text 4"/>
          <p:cNvSpPr/>
          <p:nvPr/>
        </p:nvSpPr>
        <p:spPr>
          <a:xfrm>
            <a:off x="868680" y="1764792"/>
            <a:ext cx="3611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Survives reboots. 6-line snippet in worksheet.</a:t>
            </a:r>
            <a:endParaRPr lang="en-US" sz="1100" dirty="0"/>
          </a:p>
        </p:txBody>
      </p:sp>
      <p:sp>
        <p:nvSpPr>
          <p:cNvPr id="7" name="Shape 5"/>
          <p:cNvSpPr/>
          <p:nvPr/>
        </p:nvSpPr>
        <p:spPr>
          <a:xfrm>
            <a:off x="4709160" y="1508760"/>
            <a:ext cx="274320" cy="274320"/>
          </a:xfrm>
          <a:prstGeom prst="rect">
            <a:avLst/>
          </a:prstGeom>
          <a:solidFill>
            <a:srgbClr val="FFFFFF"/>
          </a:solidFill>
          <a:ln w="25400">
            <a:solidFill>
              <a:srgbClr val="0D9488"/>
            </a:solidFill>
            <a:prstDash val="solid"/>
          </a:ln>
        </p:spPr>
      </p:sp>
      <p:sp>
        <p:nvSpPr>
          <p:cNvPr id="8" name="Text 6"/>
          <p:cNvSpPr/>
          <p:nvPr/>
        </p:nvSpPr>
        <p:spPr>
          <a:xfrm>
            <a:off x="5120640" y="1435608"/>
            <a:ext cx="3611880" cy="320040"/>
          </a:xfrm>
          <a:prstGeom prst="rect">
            <a:avLst/>
          </a:prstGeom>
          <a:noFill/>
          <a:ln/>
        </p:spPr>
        <p:txBody>
          <a:bodyPr wrap="square" lIns="0" tIns="0" rIns="0" bIns="0" rtlCol="0" anchor="ctr"/>
          <a:lstStyle/>
          <a:p>
            <a:pPr indent="0" marL="0">
              <a:buNone/>
            </a:pPr>
            <a:r>
              <a:rPr lang="en-US" sz="1400" b="1" dirty="0">
                <a:solidFill>
                  <a:srgbClr val="1E293B"/>
                </a:solidFill>
                <a:latin typeface="Cambria" pitchFamily="34" charset="0"/>
                <a:ea typeface="Cambria" pitchFamily="34" charset="-122"/>
                <a:cs typeface="Cambria" pitchFamily="34" charset="-120"/>
              </a:rPr>
              <a:t>Pin a known-good model</a:t>
            </a:r>
            <a:endParaRPr lang="en-US" sz="1400" dirty="0"/>
          </a:p>
        </p:txBody>
      </p:sp>
      <p:sp>
        <p:nvSpPr>
          <p:cNvPr id="9" name="Text 7"/>
          <p:cNvSpPr/>
          <p:nvPr/>
        </p:nvSpPr>
        <p:spPr>
          <a:xfrm>
            <a:off x="5120640" y="1764792"/>
            <a:ext cx="3611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Once you know which one follows YOUR schema best.</a:t>
            </a:r>
            <a:endParaRPr lang="en-US" sz="1100" dirty="0"/>
          </a:p>
        </p:txBody>
      </p:sp>
      <p:sp>
        <p:nvSpPr>
          <p:cNvPr id="10" name="Shape 8"/>
          <p:cNvSpPr/>
          <p:nvPr/>
        </p:nvSpPr>
        <p:spPr>
          <a:xfrm>
            <a:off x="457200" y="2468880"/>
            <a:ext cx="274320" cy="274320"/>
          </a:xfrm>
          <a:prstGeom prst="rect">
            <a:avLst/>
          </a:prstGeom>
          <a:solidFill>
            <a:srgbClr val="FFFFFF"/>
          </a:solidFill>
          <a:ln w="25400">
            <a:solidFill>
              <a:srgbClr val="0D9488"/>
            </a:solidFill>
            <a:prstDash val="solid"/>
          </a:ln>
        </p:spPr>
      </p:sp>
      <p:sp>
        <p:nvSpPr>
          <p:cNvPr id="11" name="Text 9"/>
          <p:cNvSpPr/>
          <p:nvPr/>
        </p:nvSpPr>
        <p:spPr>
          <a:xfrm>
            <a:off x="868680" y="2395728"/>
            <a:ext cx="3611880" cy="320040"/>
          </a:xfrm>
          <a:prstGeom prst="rect">
            <a:avLst/>
          </a:prstGeom>
          <a:noFill/>
          <a:ln/>
        </p:spPr>
        <p:txBody>
          <a:bodyPr wrap="square" lIns="0" tIns="0" rIns="0" bIns="0" rtlCol="0" anchor="ctr"/>
          <a:lstStyle/>
          <a:p>
            <a:pPr indent="0" marL="0">
              <a:buNone/>
            </a:pPr>
            <a:r>
              <a:rPr lang="en-US" sz="1400" b="1" dirty="0">
                <a:solidFill>
                  <a:srgbClr val="1E293B"/>
                </a:solidFill>
                <a:latin typeface="Cambria" pitchFamily="34" charset="0"/>
                <a:ea typeface="Cambria" pitchFamily="34" charset="-122"/>
                <a:cs typeface="Cambria" pitchFamily="34" charset="-120"/>
              </a:rPr>
              <a:t>Add a web search tool</a:t>
            </a:r>
            <a:endParaRPr lang="en-US" sz="1400" dirty="0"/>
          </a:p>
        </p:txBody>
      </p:sp>
      <p:sp>
        <p:nvSpPr>
          <p:cNvPr id="12" name="Text 10"/>
          <p:cNvSpPr/>
          <p:nvPr/>
        </p:nvSpPr>
        <p:spPr>
          <a:xfrm>
            <a:off x="868680" y="2724912"/>
            <a:ext cx="3611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Brave, Serper, Tavily — free tiers exist.</a:t>
            </a:r>
            <a:endParaRPr lang="en-US" sz="1100" dirty="0"/>
          </a:p>
        </p:txBody>
      </p:sp>
      <p:sp>
        <p:nvSpPr>
          <p:cNvPr id="13" name="Shape 11"/>
          <p:cNvSpPr/>
          <p:nvPr/>
        </p:nvSpPr>
        <p:spPr>
          <a:xfrm>
            <a:off x="4709160" y="2468880"/>
            <a:ext cx="274320" cy="274320"/>
          </a:xfrm>
          <a:prstGeom prst="rect">
            <a:avLst/>
          </a:prstGeom>
          <a:solidFill>
            <a:srgbClr val="FFFFFF"/>
          </a:solidFill>
          <a:ln w="25400">
            <a:solidFill>
              <a:srgbClr val="0D9488"/>
            </a:solidFill>
            <a:prstDash val="solid"/>
          </a:ln>
        </p:spPr>
      </p:sp>
      <p:sp>
        <p:nvSpPr>
          <p:cNvPr id="14" name="Text 12"/>
          <p:cNvSpPr/>
          <p:nvPr/>
        </p:nvSpPr>
        <p:spPr>
          <a:xfrm>
            <a:off x="5120640" y="2395728"/>
            <a:ext cx="3611880" cy="320040"/>
          </a:xfrm>
          <a:prstGeom prst="rect">
            <a:avLst/>
          </a:prstGeom>
          <a:noFill/>
          <a:ln/>
        </p:spPr>
        <p:txBody>
          <a:bodyPr wrap="square" lIns="0" tIns="0" rIns="0" bIns="0" rtlCol="0" anchor="ctr"/>
          <a:lstStyle/>
          <a:p>
            <a:pPr indent="0" marL="0">
              <a:buNone/>
            </a:pPr>
            <a:r>
              <a:rPr lang="en-US" sz="1400" b="1" dirty="0">
                <a:solidFill>
                  <a:srgbClr val="1E293B"/>
                </a:solidFill>
                <a:latin typeface="Cambria" pitchFamily="34" charset="0"/>
                <a:ea typeface="Cambria" pitchFamily="34" charset="-122"/>
                <a:cs typeface="Cambria" pitchFamily="34" charset="-120"/>
              </a:rPr>
              <a:t>Add MCP servers</a:t>
            </a:r>
            <a:endParaRPr lang="en-US" sz="1400" dirty="0"/>
          </a:p>
        </p:txBody>
      </p:sp>
      <p:sp>
        <p:nvSpPr>
          <p:cNvPr id="15" name="Text 13"/>
          <p:cNvSpPr/>
          <p:nvPr/>
        </p:nvSpPr>
        <p:spPr>
          <a:xfrm>
            <a:off x="5120640" y="2724912"/>
            <a:ext cx="3611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Gmail, Calendar, Notion. See modelcontextprotocol.io.</a:t>
            </a:r>
            <a:endParaRPr lang="en-US" sz="1100" dirty="0"/>
          </a:p>
        </p:txBody>
      </p:sp>
      <p:sp>
        <p:nvSpPr>
          <p:cNvPr id="16" name="Shape 14"/>
          <p:cNvSpPr/>
          <p:nvPr/>
        </p:nvSpPr>
        <p:spPr>
          <a:xfrm>
            <a:off x="457200" y="3429000"/>
            <a:ext cx="274320" cy="274320"/>
          </a:xfrm>
          <a:prstGeom prst="rect">
            <a:avLst/>
          </a:prstGeom>
          <a:solidFill>
            <a:srgbClr val="FFFFFF"/>
          </a:solidFill>
          <a:ln w="25400">
            <a:solidFill>
              <a:srgbClr val="0D9488"/>
            </a:solidFill>
            <a:prstDash val="solid"/>
          </a:ln>
        </p:spPr>
      </p:sp>
      <p:sp>
        <p:nvSpPr>
          <p:cNvPr id="17" name="Text 15"/>
          <p:cNvSpPr/>
          <p:nvPr/>
        </p:nvSpPr>
        <p:spPr>
          <a:xfrm>
            <a:off x="868680" y="3355848"/>
            <a:ext cx="3611880" cy="320040"/>
          </a:xfrm>
          <a:prstGeom prst="rect">
            <a:avLst/>
          </a:prstGeom>
          <a:noFill/>
          <a:ln/>
        </p:spPr>
        <p:txBody>
          <a:bodyPr wrap="square" lIns="0" tIns="0" rIns="0" bIns="0" rtlCol="0" anchor="ctr"/>
          <a:lstStyle/>
          <a:p>
            <a:pPr indent="0" marL="0">
              <a:buNone/>
            </a:pPr>
            <a:r>
              <a:rPr lang="en-US" sz="1400" b="1" dirty="0">
                <a:solidFill>
                  <a:srgbClr val="1E293B"/>
                </a:solidFill>
                <a:latin typeface="Cambria" pitchFamily="34" charset="0"/>
                <a:ea typeface="Cambria" pitchFamily="34" charset="-122"/>
                <a:cs typeface="Cambria" pitchFamily="34" charset="-120"/>
              </a:rPr>
              <a:t>Schedule a daily lint</a:t>
            </a:r>
            <a:endParaRPr lang="en-US" sz="1400" dirty="0"/>
          </a:p>
        </p:txBody>
      </p:sp>
      <p:sp>
        <p:nvSpPr>
          <p:cNvPr id="18" name="Text 16"/>
          <p:cNvSpPr/>
          <p:nvPr/>
        </p:nvSpPr>
        <p:spPr>
          <a:xfrm>
            <a:off x="868680" y="3685032"/>
            <a:ext cx="3611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Via nanobot cron. Keeps the wiki clean automatically.</a:t>
            </a:r>
            <a:endParaRPr lang="en-US" sz="1100" dirty="0"/>
          </a:p>
        </p:txBody>
      </p:sp>
      <p:sp>
        <p:nvSpPr>
          <p:cNvPr id="19" name="Shape 17"/>
          <p:cNvSpPr/>
          <p:nvPr/>
        </p:nvSpPr>
        <p:spPr>
          <a:xfrm>
            <a:off x="4709160" y="3429000"/>
            <a:ext cx="274320" cy="274320"/>
          </a:xfrm>
          <a:prstGeom prst="rect">
            <a:avLst/>
          </a:prstGeom>
          <a:solidFill>
            <a:srgbClr val="FFFFFF"/>
          </a:solidFill>
          <a:ln w="25400">
            <a:solidFill>
              <a:srgbClr val="0D9488"/>
            </a:solidFill>
            <a:prstDash val="solid"/>
          </a:ln>
        </p:spPr>
      </p:sp>
      <p:sp>
        <p:nvSpPr>
          <p:cNvPr id="20" name="Text 18"/>
          <p:cNvSpPr/>
          <p:nvPr/>
        </p:nvSpPr>
        <p:spPr>
          <a:xfrm>
            <a:off x="5120640" y="3355848"/>
            <a:ext cx="3611880" cy="320040"/>
          </a:xfrm>
          <a:prstGeom prst="rect">
            <a:avLst/>
          </a:prstGeom>
          <a:noFill/>
          <a:ln/>
        </p:spPr>
        <p:txBody>
          <a:bodyPr wrap="square" lIns="0" tIns="0" rIns="0" bIns="0" rtlCol="0" anchor="ctr"/>
          <a:lstStyle/>
          <a:p>
            <a:pPr indent="0" marL="0">
              <a:buNone/>
            </a:pPr>
            <a:r>
              <a:rPr lang="en-US" sz="1400" b="1" dirty="0">
                <a:solidFill>
                  <a:srgbClr val="1E293B"/>
                </a:solidFill>
                <a:latin typeface="Cambria" pitchFamily="34" charset="0"/>
                <a:ea typeface="Cambria" pitchFamily="34" charset="-122"/>
                <a:cs typeface="Cambria" pitchFamily="34" charset="-120"/>
              </a:rPr>
              <a:t>Back up your wiki off-machine</a:t>
            </a:r>
            <a:endParaRPr lang="en-US" sz="1400" dirty="0"/>
          </a:p>
        </p:txBody>
      </p:sp>
      <p:sp>
        <p:nvSpPr>
          <p:cNvPr id="21" name="Text 19"/>
          <p:cNvSpPr/>
          <p:nvPr/>
        </p:nvSpPr>
        <p:spPr>
          <a:xfrm>
            <a:off x="5120640" y="3685032"/>
            <a:ext cx="3611880" cy="4572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Workspace is already a git repo. Push to GitHub.</a:t>
            </a:r>
            <a:endParaRPr lang="en-US" sz="1100" dirty="0"/>
          </a:p>
        </p:txBody>
      </p:sp>
      <p:sp>
        <p:nvSpPr>
          <p:cNvPr id="23" name="Shape 20"/>
          <p:cNvSpPr/>
          <p:nvPr/>
        </p:nvSpPr>
        <p:spPr>
          <a:xfrm>
            <a:off x="457200" y="4864608"/>
            <a:ext cx="91440" cy="91440"/>
          </a:xfrm>
          <a:prstGeom prst="rect">
            <a:avLst/>
          </a:prstGeom>
          <a:solidFill>
            <a:srgbClr val="0D9488"/>
          </a:solidFill>
          <a:ln w="12700">
            <a:solidFill>
              <a:srgbClr val="0D9488"/>
            </a:solidFill>
            <a:prstDash val="solid"/>
          </a:ln>
        </p:spPr>
      </p:sp>
      <p:sp>
        <p:nvSpPr>
          <p:cNvPr id="24" name="Text 21"/>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5" name="Text 22"/>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 / 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457200"/>
            <a:ext cx="8229600" cy="365760"/>
          </a:xfrm>
          <a:prstGeom prst="rect">
            <a:avLst/>
          </a:prstGeom>
          <a:noFill/>
          <a:ln/>
        </p:spPr>
        <p:txBody>
          <a:bodyPr wrap="square" lIns="0" tIns="0" rIns="0" bIns="0" rtlCol="0" anchor="ctr"/>
          <a:lstStyle/>
          <a:p>
            <a:pPr indent="0" marL="0">
              <a:buNone/>
            </a:pPr>
            <a:r>
              <a:rPr lang="en-US" sz="1200" b="1" spc="600" kern="0" dirty="0">
                <a:solidFill>
                  <a:srgbClr val="14B8A6"/>
                </a:solidFill>
                <a:latin typeface="Calibri" pitchFamily="34" charset="0"/>
                <a:ea typeface="Calibri" pitchFamily="34" charset="-122"/>
                <a:cs typeface="Calibri" pitchFamily="34" charset="-120"/>
              </a:rPr>
              <a:t>THE BIGGER IDEA</a:t>
            </a:r>
            <a:endParaRPr lang="en-US" sz="1200" dirty="0"/>
          </a:p>
        </p:txBody>
      </p:sp>
      <p:sp>
        <p:nvSpPr>
          <p:cNvPr id="3" name="Shape 1"/>
          <p:cNvSpPr/>
          <p:nvPr/>
        </p:nvSpPr>
        <p:spPr>
          <a:xfrm>
            <a:off x="457200" y="1051560"/>
            <a:ext cx="54864" cy="1371600"/>
          </a:xfrm>
          <a:prstGeom prst="rect">
            <a:avLst/>
          </a:prstGeom>
          <a:solidFill>
            <a:srgbClr val="14B8A6"/>
          </a:solidFill>
          <a:ln w="12700">
            <a:solidFill>
              <a:srgbClr val="14B8A6"/>
            </a:solidFill>
            <a:prstDash val="solid"/>
          </a:ln>
        </p:spPr>
      </p:sp>
      <p:sp>
        <p:nvSpPr>
          <p:cNvPr id="4" name="Text 2"/>
          <p:cNvSpPr/>
          <p:nvPr/>
        </p:nvSpPr>
        <p:spPr>
          <a:xfrm>
            <a:off x="777240" y="1051560"/>
            <a:ext cx="7863840" cy="1097280"/>
          </a:xfrm>
          <a:prstGeom prst="rect">
            <a:avLst/>
          </a:prstGeom>
          <a:noFill/>
          <a:ln/>
        </p:spPr>
        <p:txBody>
          <a:bodyPr wrap="square" lIns="0" tIns="0" rIns="0" bIns="0" rtlCol="0" anchor="ctr"/>
          <a:lstStyle/>
          <a:p>
            <a:pPr indent="0" marL="0">
              <a:buNone/>
            </a:pPr>
            <a:r>
              <a:rPr lang="en-US" sz="1700" i="1" dirty="0">
                <a:solidFill>
                  <a:srgbClr val="F1F5F9"/>
                </a:solidFill>
                <a:latin typeface="Cambria" pitchFamily="34" charset="0"/>
                <a:ea typeface="Cambria" pitchFamily="34" charset="-122"/>
                <a:cs typeface="Cambria" pitchFamily="34" charset="-120"/>
              </a:rPr>
              <a:t>"The tedious part of maintaining a knowledge base is not the reading or the thinking — it's the bookkeeping. LLMs don't get bored. The wiki stays maintained because the cost of maintenance is near zero."</a:t>
            </a:r>
            <a:endParaRPr lang="en-US" sz="1700" dirty="0"/>
          </a:p>
        </p:txBody>
      </p:sp>
      <p:sp>
        <p:nvSpPr>
          <p:cNvPr id="5" name="Text 3"/>
          <p:cNvSpPr/>
          <p:nvPr/>
        </p:nvSpPr>
        <p:spPr>
          <a:xfrm>
            <a:off x="777240" y="2148840"/>
            <a:ext cx="786384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Karpathy</a:t>
            </a:r>
            <a:endParaRPr lang="en-US" sz="1200" dirty="0"/>
          </a:p>
        </p:txBody>
      </p:sp>
      <p:sp>
        <p:nvSpPr>
          <p:cNvPr id="6" name="Shape 4"/>
          <p:cNvSpPr/>
          <p:nvPr/>
        </p:nvSpPr>
        <p:spPr>
          <a:xfrm>
            <a:off x="457200" y="2834640"/>
            <a:ext cx="54864" cy="1371600"/>
          </a:xfrm>
          <a:prstGeom prst="rect">
            <a:avLst/>
          </a:prstGeom>
          <a:solidFill>
            <a:srgbClr val="14B8A6"/>
          </a:solidFill>
          <a:ln w="12700">
            <a:solidFill>
              <a:srgbClr val="14B8A6"/>
            </a:solidFill>
            <a:prstDash val="solid"/>
          </a:ln>
        </p:spPr>
      </p:sp>
      <p:sp>
        <p:nvSpPr>
          <p:cNvPr id="7" name="Text 5"/>
          <p:cNvSpPr/>
          <p:nvPr/>
        </p:nvSpPr>
        <p:spPr>
          <a:xfrm>
            <a:off x="777240" y="2834640"/>
            <a:ext cx="7863840" cy="1097280"/>
          </a:xfrm>
          <a:prstGeom prst="rect">
            <a:avLst/>
          </a:prstGeom>
          <a:noFill/>
          <a:ln/>
        </p:spPr>
        <p:txBody>
          <a:bodyPr wrap="square" lIns="0" tIns="0" rIns="0" bIns="0" rtlCol="0" anchor="ctr"/>
          <a:lstStyle/>
          <a:p>
            <a:pPr indent="0" marL="0">
              <a:buNone/>
            </a:pPr>
            <a:r>
              <a:rPr lang="en-US" sz="1700" i="1" dirty="0">
                <a:solidFill>
                  <a:srgbClr val="F1F5F9"/>
                </a:solidFill>
                <a:latin typeface="Cambria" pitchFamily="34" charset="0"/>
                <a:ea typeface="Cambria" pitchFamily="34" charset="-122"/>
                <a:cs typeface="Cambria" pitchFamily="34" charset="-120"/>
              </a:rPr>
              <a:t>"The specific composition you used today will be obsolete in months. The builder's ability to compose the right pieces — that's the durable advantage."</a:t>
            </a:r>
            <a:endParaRPr lang="en-US" sz="1700" dirty="0"/>
          </a:p>
        </p:txBody>
      </p:sp>
      <p:sp>
        <p:nvSpPr>
          <p:cNvPr id="8" name="Text 6"/>
          <p:cNvSpPr/>
          <p:nvPr/>
        </p:nvSpPr>
        <p:spPr>
          <a:xfrm>
            <a:off x="777240" y="3931920"/>
            <a:ext cx="7863840" cy="274320"/>
          </a:xfrm>
          <a:prstGeom prst="rect">
            <a:avLst/>
          </a:prstGeom>
          <a:noFill/>
          <a:ln/>
        </p:spPr>
        <p:txBody>
          <a:bodyPr wrap="square" lIns="0" tIns="0" rIns="0" bIns="0" rtlCol="0" anchor="ctr"/>
          <a:lstStyle/>
          <a:p>
            <a:pPr indent="0" marL="0">
              <a:buNone/>
            </a:pPr>
            <a:r>
              <a:rPr lang="en-US" sz="1200" b="1" dirty="0">
                <a:solidFill>
                  <a:srgbClr val="14B8A6"/>
                </a:solidFill>
                <a:latin typeface="Calibri" pitchFamily="34" charset="0"/>
                <a:ea typeface="Calibri" pitchFamily="34" charset="-122"/>
                <a:cs typeface="Calibri" pitchFamily="34" charset="-120"/>
              </a:rPr>
              <a:t>— Balakrishnan</a:t>
            </a:r>
            <a:endParaRPr lang="en-US" sz="1200" dirty="0"/>
          </a:p>
        </p:txBody>
      </p:sp>
      <p:sp>
        <p:nvSpPr>
          <p:cNvPr id="9" name="Text 7"/>
          <p:cNvSpPr/>
          <p:nvPr/>
        </p:nvSpPr>
        <p:spPr>
          <a:xfrm>
            <a:off x="457200" y="4434840"/>
            <a:ext cx="8229600" cy="274320"/>
          </a:xfrm>
          <a:prstGeom prst="rect">
            <a:avLst/>
          </a:prstGeom>
          <a:noFill/>
          <a:ln/>
        </p:spPr>
        <p:txBody>
          <a:bodyPr wrap="square" lIns="0" tIns="0" rIns="0" bIns="0" rtlCol="0" anchor="ctr"/>
          <a:lstStyle/>
          <a:p>
            <a:pPr algn="ctr" indent="0" marL="0">
              <a:buNone/>
            </a:pPr>
            <a:r>
              <a:rPr lang="en-US" sz="1300" i="1" dirty="0">
                <a:solidFill>
                  <a:srgbClr val="94A3B8"/>
                </a:solidFill>
                <a:latin typeface="Calibri" pitchFamily="34" charset="0"/>
                <a:ea typeface="Calibri" pitchFamily="34" charset="-122"/>
                <a:cs typeface="Calibri" pitchFamily="34" charset="-120"/>
              </a:rPr>
              <a:t>You just demonstrated that skill end-to-end.</a:t>
            </a:r>
            <a:endParaRPr lang="en-US" sz="1300" dirty="0"/>
          </a:p>
        </p:txBody>
      </p:sp>
      <p:sp>
        <p:nvSpPr>
          <p:cNvPr id="11" name="Shape 8"/>
          <p:cNvSpPr/>
          <p:nvPr/>
        </p:nvSpPr>
        <p:spPr>
          <a:xfrm>
            <a:off x="457200" y="4864608"/>
            <a:ext cx="91440" cy="91440"/>
          </a:xfrm>
          <a:prstGeom prst="rect">
            <a:avLst/>
          </a:prstGeom>
          <a:solidFill>
            <a:srgbClr val="0D9488"/>
          </a:solidFill>
          <a:ln w="12700">
            <a:solidFill>
              <a:srgbClr val="0D9488"/>
            </a:solidFill>
            <a:prstDash val="solid"/>
          </a:ln>
        </p:spPr>
      </p:sp>
      <p:sp>
        <p:nvSpPr>
          <p:cNvPr id="12" name="Text 9"/>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3" name="Text 1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23 / 25</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228600"/>
          </a:xfrm>
          <a:prstGeom prst="rect">
            <a:avLst/>
          </a:prstGeom>
          <a:noFill/>
          <a:ln/>
        </p:spPr>
        <p:txBody>
          <a:bodyPr wrap="square" lIns="0" tIns="0" rIns="0" bIns="0" rtlCol="0" anchor="ctr"/>
          <a:lstStyle/>
          <a:p>
            <a:pPr indent="0" marL="0">
              <a:buNone/>
            </a:pPr>
            <a:r>
              <a:rPr lang="en-US" sz="1000" b="1" spc="400" kern="0" dirty="0">
                <a:solidFill>
                  <a:srgbClr val="0D9488"/>
                </a:solidFill>
                <a:latin typeface="Calibri" pitchFamily="34" charset="0"/>
                <a:ea typeface="Calibri" pitchFamily="34" charset="-122"/>
                <a:cs typeface="Calibri" pitchFamily="34" charset="-120"/>
              </a:rPr>
              <a:t>BOOKMARK THESE</a:t>
            </a:r>
            <a:endParaRPr lang="en-US" sz="1000" dirty="0"/>
          </a:p>
        </p:txBody>
      </p:sp>
      <p:sp>
        <p:nvSpPr>
          <p:cNvPr id="3" name="Text 1"/>
          <p:cNvSpPr/>
          <p:nvPr/>
        </p:nvSpPr>
        <p:spPr>
          <a:xfrm>
            <a:off x="457200" y="411480"/>
            <a:ext cx="8229600" cy="640080"/>
          </a:xfrm>
          <a:prstGeom prst="rect">
            <a:avLst/>
          </a:prstGeom>
          <a:noFill/>
          <a:ln/>
        </p:spPr>
        <p:txBody>
          <a:bodyPr wrap="square" lIns="0" tIns="0" rIns="0" bIns="0" rtlCol="0" anchor="ctr"/>
          <a:lstStyle/>
          <a:p>
            <a:pPr indent="0" marL="0">
              <a:buNone/>
            </a:pPr>
            <a:r>
              <a:rPr lang="en-US" sz="3200" b="1" dirty="0">
                <a:solidFill>
                  <a:srgbClr val="1E293B"/>
                </a:solidFill>
                <a:latin typeface="Cambria" pitchFamily="34" charset="0"/>
                <a:ea typeface="Cambria" pitchFamily="34" charset="-122"/>
                <a:cs typeface="Cambria" pitchFamily="34" charset="-120"/>
              </a:rPr>
              <a:t>Resources.</a:t>
            </a:r>
            <a:endParaRPr lang="en-US" sz="3200" dirty="0"/>
          </a:p>
        </p:txBody>
      </p:sp>
      <p:sp>
        <p:nvSpPr>
          <p:cNvPr id="4" name="Shape 2"/>
          <p:cNvSpPr/>
          <p:nvPr/>
        </p:nvSpPr>
        <p:spPr>
          <a:xfrm>
            <a:off x="457200" y="1527048"/>
            <a:ext cx="91440" cy="91440"/>
          </a:xfrm>
          <a:prstGeom prst="rect">
            <a:avLst/>
          </a:prstGeom>
          <a:solidFill>
            <a:srgbClr val="0D9488"/>
          </a:solidFill>
          <a:ln w="12700">
            <a:solidFill>
              <a:srgbClr val="0D9488"/>
            </a:solidFill>
            <a:prstDash val="solid"/>
          </a:ln>
        </p:spPr>
      </p:sp>
      <p:sp>
        <p:nvSpPr>
          <p:cNvPr id="5" name="Text 3"/>
          <p:cNvSpPr/>
          <p:nvPr/>
        </p:nvSpPr>
        <p:spPr>
          <a:xfrm>
            <a:off x="685800" y="141732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Worksheet (commands, troubleshooting)</a:t>
            </a:r>
            <a:pPr indent="0" marL="0">
              <a:buNone/>
            </a:pPr>
            <a:r>
              <a:rPr lang="en-US" sz="1200" dirty="0">
                <a:solidFill>
                  <a:srgbClr val="0D9488"/>
                </a:solidFill>
                <a:latin typeface="Consolas" pitchFamily="34" charset="0"/>
                <a:ea typeface="Consolas" pitchFamily="34" charset="-122"/>
                <a:cs typeface="Consolas" pitchFamily="34" charset="-120"/>
              </a:rPr>
              <a:t>   workshop_worksheet.md</a:t>
            </a:r>
            <a:endParaRPr lang="en-US" sz="1200" dirty="0"/>
          </a:p>
        </p:txBody>
      </p:sp>
      <p:sp>
        <p:nvSpPr>
          <p:cNvPr id="6" name="Shape 4"/>
          <p:cNvSpPr/>
          <p:nvPr/>
        </p:nvSpPr>
        <p:spPr>
          <a:xfrm>
            <a:off x="457200" y="1892808"/>
            <a:ext cx="91440" cy="91440"/>
          </a:xfrm>
          <a:prstGeom prst="rect">
            <a:avLst/>
          </a:prstGeom>
          <a:solidFill>
            <a:srgbClr val="0D9488"/>
          </a:solidFill>
          <a:ln w="12700">
            <a:solidFill>
              <a:srgbClr val="0D9488"/>
            </a:solidFill>
            <a:prstDash val="solid"/>
          </a:ln>
        </p:spPr>
      </p:sp>
      <p:sp>
        <p:nvSpPr>
          <p:cNvPr id="7" name="Text 5"/>
          <p:cNvSpPr/>
          <p:nvPr/>
        </p:nvSpPr>
        <p:spPr>
          <a:xfrm>
            <a:off x="685800" y="178308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Nanobot repo</a:t>
            </a:r>
            <a:pPr indent="0" marL="0">
              <a:buNone/>
            </a:pPr>
            <a:r>
              <a:rPr lang="en-US" sz="1200" dirty="0">
                <a:solidFill>
                  <a:srgbClr val="0D9488"/>
                </a:solidFill>
                <a:latin typeface="Calibri" pitchFamily="34" charset="0"/>
                <a:ea typeface="Calibri" pitchFamily="34" charset="-122"/>
                <a:cs typeface="Calibri" pitchFamily="34" charset="-120"/>
              </a:rPr>
              <a:t>   github.com/HKUDS/nanobot</a:t>
            </a:r>
            <a:endParaRPr lang="en-US" sz="1200" dirty="0"/>
          </a:p>
        </p:txBody>
      </p:sp>
      <p:sp>
        <p:nvSpPr>
          <p:cNvPr id="8" name="Shape 6"/>
          <p:cNvSpPr/>
          <p:nvPr/>
        </p:nvSpPr>
        <p:spPr>
          <a:xfrm>
            <a:off x="457200" y="2258568"/>
            <a:ext cx="91440" cy="91440"/>
          </a:xfrm>
          <a:prstGeom prst="rect">
            <a:avLst/>
          </a:prstGeom>
          <a:solidFill>
            <a:srgbClr val="0D9488"/>
          </a:solidFill>
          <a:ln w="12700">
            <a:solidFill>
              <a:srgbClr val="0D9488"/>
            </a:solidFill>
            <a:prstDash val="solid"/>
          </a:ln>
        </p:spPr>
      </p:sp>
      <p:sp>
        <p:nvSpPr>
          <p:cNvPr id="9" name="Text 7"/>
          <p:cNvSpPr/>
          <p:nvPr/>
        </p:nvSpPr>
        <p:spPr>
          <a:xfrm>
            <a:off x="685800" y="214884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Nanobot docs</a:t>
            </a:r>
            <a:pPr indent="0" marL="0">
              <a:buNone/>
            </a:pPr>
            <a:r>
              <a:rPr lang="en-US" sz="1200" dirty="0">
                <a:solidFill>
                  <a:srgbClr val="0D9488"/>
                </a:solidFill>
                <a:latin typeface="Calibri" pitchFamily="34" charset="0"/>
                <a:ea typeface="Calibri" pitchFamily="34" charset="-122"/>
                <a:cs typeface="Calibri" pitchFamily="34" charset="-120"/>
              </a:rPr>
              <a:t>   nanobot.wiki</a:t>
            </a:r>
            <a:endParaRPr lang="en-US" sz="1200" dirty="0"/>
          </a:p>
        </p:txBody>
      </p:sp>
      <p:sp>
        <p:nvSpPr>
          <p:cNvPr id="10" name="Shape 8"/>
          <p:cNvSpPr/>
          <p:nvPr/>
        </p:nvSpPr>
        <p:spPr>
          <a:xfrm>
            <a:off x="457200" y="2624328"/>
            <a:ext cx="91440" cy="91440"/>
          </a:xfrm>
          <a:prstGeom prst="rect">
            <a:avLst/>
          </a:prstGeom>
          <a:solidFill>
            <a:srgbClr val="0D9488"/>
          </a:solidFill>
          <a:ln w="12700">
            <a:solidFill>
              <a:srgbClr val="0D9488"/>
            </a:solidFill>
            <a:prstDash val="solid"/>
          </a:ln>
        </p:spPr>
      </p:sp>
      <p:sp>
        <p:nvSpPr>
          <p:cNvPr id="11" name="Text 9"/>
          <p:cNvSpPr/>
          <p:nvPr/>
        </p:nvSpPr>
        <p:spPr>
          <a:xfrm>
            <a:off x="685800" y="251460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Karpathy's LLM Wiki gist</a:t>
            </a:r>
            <a:pPr indent="0" marL="0">
              <a:buNone/>
            </a:pPr>
            <a:r>
              <a:rPr lang="en-US" sz="1200" dirty="0">
                <a:solidFill>
                  <a:srgbClr val="0D9488"/>
                </a:solidFill>
                <a:latin typeface="Calibri" pitchFamily="34" charset="0"/>
                <a:ea typeface="Calibri" pitchFamily="34" charset="-122"/>
                <a:cs typeface="Calibri" pitchFamily="34" charset="-120"/>
              </a:rPr>
              <a:t>   gist.github.com/karpathy/442a6bf555914893e9891c11519de94f</a:t>
            </a:r>
            <a:endParaRPr lang="en-US" sz="1200" dirty="0"/>
          </a:p>
        </p:txBody>
      </p:sp>
      <p:sp>
        <p:nvSpPr>
          <p:cNvPr id="12" name="Shape 10"/>
          <p:cNvSpPr/>
          <p:nvPr/>
        </p:nvSpPr>
        <p:spPr>
          <a:xfrm>
            <a:off x="457200" y="2990088"/>
            <a:ext cx="91440" cy="91440"/>
          </a:xfrm>
          <a:prstGeom prst="rect">
            <a:avLst/>
          </a:prstGeom>
          <a:solidFill>
            <a:srgbClr val="0D9488"/>
          </a:solidFill>
          <a:ln w="12700">
            <a:solidFill>
              <a:srgbClr val="0D9488"/>
            </a:solidFill>
            <a:prstDash val="solid"/>
          </a:ln>
        </p:spPr>
      </p:sp>
      <p:sp>
        <p:nvSpPr>
          <p:cNvPr id="13" name="Text 11"/>
          <p:cNvSpPr/>
          <p:nvPr/>
        </p:nvSpPr>
        <p:spPr>
          <a:xfrm>
            <a:off x="685800" y="288036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OpenRouter</a:t>
            </a:r>
            <a:pPr indent="0" marL="0">
              <a:buNone/>
            </a:pPr>
            <a:r>
              <a:rPr lang="en-US" sz="1200" dirty="0">
                <a:solidFill>
                  <a:srgbClr val="0D9488"/>
                </a:solidFill>
                <a:latin typeface="Calibri" pitchFamily="34" charset="0"/>
                <a:ea typeface="Calibri" pitchFamily="34" charset="-122"/>
                <a:cs typeface="Calibri" pitchFamily="34" charset="-120"/>
              </a:rPr>
              <a:t>   openrouter.ai (free models at /collections/free-models)</a:t>
            </a:r>
            <a:endParaRPr lang="en-US" sz="1200" dirty="0"/>
          </a:p>
        </p:txBody>
      </p:sp>
      <p:sp>
        <p:nvSpPr>
          <p:cNvPr id="14" name="Shape 12"/>
          <p:cNvSpPr/>
          <p:nvPr/>
        </p:nvSpPr>
        <p:spPr>
          <a:xfrm>
            <a:off x="457200" y="3355848"/>
            <a:ext cx="91440" cy="91440"/>
          </a:xfrm>
          <a:prstGeom prst="rect">
            <a:avLst/>
          </a:prstGeom>
          <a:solidFill>
            <a:srgbClr val="0D9488"/>
          </a:solidFill>
          <a:ln w="12700">
            <a:solidFill>
              <a:srgbClr val="0D9488"/>
            </a:solidFill>
            <a:prstDash val="solid"/>
          </a:ln>
        </p:spPr>
      </p:sp>
      <p:sp>
        <p:nvSpPr>
          <p:cNvPr id="15" name="Text 13"/>
          <p:cNvSpPr/>
          <p:nvPr/>
        </p:nvSpPr>
        <p:spPr>
          <a:xfrm>
            <a:off x="685800" y="324612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Ollama models</a:t>
            </a:r>
            <a:pPr indent="0" marL="0">
              <a:buNone/>
            </a:pPr>
            <a:r>
              <a:rPr lang="en-US" sz="1200" dirty="0">
                <a:solidFill>
                  <a:srgbClr val="0D9488"/>
                </a:solidFill>
                <a:latin typeface="Calibri" pitchFamily="34" charset="0"/>
                <a:ea typeface="Calibri" pitchFamily="34" charset="-122"/>
                <a:cs typeface="Calibri" pitchFamily="34" charset="-120"/>
              </a:rPr>
              <a:t>   ollama.com/library</a:t>
            </a:r>
            <a:endParaRPr lang="en-US" sz="1200" dirty="0"/>
          </a:p>
        </p:txBody>
      </p:sp>
      <p:sp>
        <p:nvSpPr>
          <p:cNvPr id="16" name="Shape 14"/>
          <p:cNvSpPr/>
          <p:nvPr/>
        </p:nvSpPr>
        <p:spPr>
          <a:xfrm>
            <a:off x="457200" y="3721608"/>
            <a:ext cx="91440" cy="91440"/>
          </a:xfrm>
          <a:prstGeom prst="rect">
            <a:avLst/>
          </a:prstGeom>
          <a:solidFill>
            <a:srgbClr val="0D9488"/>
          </a:solidFill>
          <a:ln w="12700">
            <a:solidFill>
              <a:srgbClr val="0D9488"/>
            </a:solidFill>
            <a:prstDash val="solid"/>
          </a:ln>
        </p:spPr>
      </p:sp>
      <p:sp>
        <p:nvSpPr>
          <p:cNvPr id="17" name="Text 15"/>
          <p:cNvSpPr/>
          <p:nvPr/>
        </p:nvSpPr>
        <p:spPr>
          <a:xfrm>
            <a:off x="685800" y="361188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MCP server directory</a:t>
            </a:r>
            <a:pPr indent="0" marL="0">
              <a:buNone/>
            </a:pPr>
            <a:r>
              <a:rPr lang="en-US" sz="1200" dirty="0">
                <a:solidFill>
                  <a:srgbClr val="0D9488"/>
                </a:solidFill>
                <a:latin typeface="Calibri" pitchFamily="34" charset="0"/>
                <a:ea typeface="Calibri" pitchFamily="34" charset="-122"/>
                <a:cs typeface="Calibri" pitchFamily="34" charset="-120"/>
              </a:rPr>
              <a:t>   modelcontextprotocol.io</a:t>
            </a:r>
            <a:endParaRPr lang="en-US" sz="1200" dirty="0"/>
          </a:p>
        </p:txBody>
      </p:sp>
      <p:sp>
        <p:nvSpPr>
          <p:cNvPr id="18" name="Shape 16"/>
          <p:cNvSpPr/>
          <p:nvPr/>
        </p:nvSpPr>
        <p:spPr>
          <a:xfrm>
            <a:off x="457200" y="4087368"/>
            <a:ext cx="91440" cy="91440"/>
          </a:xfrm>
          <a:prstGeom prst="rect">
            <a:avLst/>
          </a:prstGeom>
          <a:solidFill>
            <a:srgbClr val="0D9488"/>
          </a:solidFill>
          <a:ln w="12700">
            <a:solidFill>
              <a:srgbClr val="0D9488"/>
            </a:solidFill>
            <a:prstDash val="solid"/>
          </a:ln>
        </p:spPr>
      </p:sp>
      <p:sp>
        <p:nvSpPr>
          <p:cNvPr id="19" name="Text 17"/>
          <p:cNvSpPr/>
          <p:nvPr/>
        </p:nvSpPr>
        <p:spPr>
          <a:xfrm>
            <a:off x="685800" y="3977640"/>
            <a:ext cx="8046720" cy="310896"/>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Nanobot 120s timeout (configurable)</a:t>
            </a:r>
            <a:pPr indent="0" marL="0">
              <a:buNone/>
            </a:pPr>
            <a:r>
              <a:rPr lang="en-US" sz="1200" dirty="0">
                <a:solidFill>
                  <a:srgbClr val="0D9488"/>
                </a:solidFill>
                <a:latin typeface="Calibri" pitchFamily="34" charset="0"/>
                <a:ea typeface="Calibri" pitchFamily="34" charset="-122"/>
                <a:cs typeface="Calibri" pitchFamily="34" charset="-120"/>
              </a:rPr>
              <a:t>   github.com/HKUDS/nanobot/issues/3455</a:t>
            </a:r>
            <a:endParaRPr lang="en-US" sz="1200" dirty="0"/>
          </a:p>
        </p:txBody>
      </p:sp>
      <p:sp>
        <p:nvSpPr>
          <p:cNvPr id="21" name="Shape 18"/>
          <p:cNvSpPr/>
          <p:nvPr/>
        </p:nvSpPr>
        <p:spPr>
          <a:xfrm>
            <a:off x="457200" y="4864608"/>
            <a:ext cx="91440" cy="91440"/>
          </a:xfrm>
          <a:prstGeom prst="rect">
            <a:avLst/>
          </a:prstGeom>
          <a:solidFill>
            <a:srgbClr val="0D9488"/>
          </a:solidFill>
          <a:ln w="12700">
            <a:solidFill>
              <a:srgbClr val="0D9488"/>
            </a:solidFill>
            <a:prstDash val="solid"/>
          </a:ln>
        </p:spPr>
      </p:sp>
      <p:sp>
        <p:nvSpPr>
          <p:cNvPr id="22" name="Text 19"/>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Second Brain · Nanobot + Telegram</a:t>
            </a:r>
            <a:endParaRPr lang="en-US" sz="900" dirty="0"/>
          </a:p>
        </p:txBody>
      </p:sp>
      <p:sp>
        <p:nvSpPr>
          <p:cNvPr id="23" name="Text 20"/>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 / 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640080"/>
            <a:ext cx="8229600" cy="365760"/>
          </a:xfrm>
          <a:prstGeom prst="rect">
            <a:avLst/>
          </a:prstGeom>
          <a:noFill/>
          <a:ln/>
        </p:spPr>
        <p:txBody>
          <a:bodyPr wrap="square" lIns="0" tIns="0" rIns="0" bIns="0" rtlCol="0" anchor="ctr"/>
          <a:lstStyle/>
          <a:p>
            <a:pPr indent="0" marL="0">
              <a:buNone/>
            </a:pPr>
            <a:r>
              <a:rPr lang="en-US" sz="1200" b="1" spc="600" kern="0" dirty="0">
                <a:solidFill>
                  <a:srgbClr val="14B8A6"/>
                </a:solidFill>
                <a:latin typeface="Calibri" pitchFamily="34" charset="0"/>
                <a:ea typeface="Calibri" pitchFamily="34" charset="-122"/>
                <a:cs typeface="Calibri" pitchFamily="34" charset="-120"/>
              </a:rPr>
              <a:t>NOW</a:t>
            </a:r>
            <a:endParaRPr lang="en-US" sz="1200" dirty="0"/>
          </a:p>
        </p:txBody>
      </p:sp>
      <p:sp>
        <p:nvSpPr>
          <p:cNvPr id="3" name="Text 1"/>
          <p:cNvSpPr/>
          <p:nvPr/>
        </p:nvSpPr>
        <p:spPr>
          <a:xfrm>
            <a:off x="457200" y="1280160"/>
            <a:ext cx="8229600" cy="822960"/>
          </a:xfrm>
          <a:prstGeom prst="rect">
            <a:avLst/>
          </a:prstGeom>
          <a:noFill/>
          <a:ln/>
        </p:spPr>
        <p:txBody>
          <a:bodyPr wrap="square" lIns="0" tIns="0" rIns="0" bIns="0" rtlCol="0" anchor="ctr"/>
          <a:lstStyle/>
          <a:p>
            <a:pPr indent="0" marL="0">
              <a:buNone/>
            </a:pPr>
            <a:r>
              <a:rPr lang="en-US" sz="4800" b="1" dirty="0">
                <a:solidFill>
                  <a:srgbClr val="F1F5F9"/>
                </a:solidFill>
                <a:latin typeface="Cambria" pitchFamily="34" charset="0"/>
                <a:ea typeface="Cambria" pitchFamily="34" charset="-122"/>
                <a:cs typeface="Cambria" pitchFamily="34" charset="-120"/>
              </a:rPr>
              <a:t>What's a topic</a:t>
            </a:r>
            <a:endParaRPr lang="en-US" sz="4800" dirty="0"/>
          </a:p>
        </p:txBody>
      </p:sp>
      <p:sp>
        <p:nvSpPr>
          <p:cNvPr id="4" name="Text 2"/>
          <p:cNvSpPr/>
          <p:nvPr/>
        </p:nvSpPr>
        <p:spPr>
          <a:xfrm>
            <a:off x="457200" y="2057400"/>
            <a:ext cx="8229600" cy="822960"/>
          </a:xfrm>
          <a:prstGeom prst="rect">
            <a:avLst/>
          </a:prstGeom>
          <a:noFill/>
          <a:ln/>
        </p:spPr>
        <p:txBody>
          <a:bodyPr wrap="square" lIns="0" tIns="0" rIns="0" bIns="0" rtlCol="0" anchor="ctr"/>
          <a:lstStyle/>
          <a:p>
            <a:pPr indent="0" marL="0">
              <a:buNone/>
            </a:pPr>
            <a:r>
              <a:rPr lang="en-US" sz="4800" b="1" dirty="0">
                <a:solidFill>
                  <a:srgbClr val="F1F5F9"/>
                </a:solidFill>
                <a:latin typeface="Cambria" pitchFamily="34" charset="0"/>
                <a:ea typeface="Cambria" pitchFamily="34" charset="-122"/>
                <a:cs typeface="Cambria" pitchFamily="34" charset="-120"/>
              </a:rPr>
              <a:t>you've always meant</a:t>
            </a:r>
            <a:endParaRPr lang="en-US" sz="4800" dirty="0"/>
          </a:p>
        </p:txBody>
      </p:sp>
      <p:sp>
        <p:nvSpPr>
          <p:cNvPr id="5" name="Text 3"/>
          <p:cNvSpPr/>
          <p:nvPr/>
        </p:nvSpPr>
        <p:spPr>
          <a:xfrm>
            <a:off x="457200" y="2834640"/>
            <a:ext cx="8229600" cy="822960"/>
          </a:xfrm>
          <a:prstGeom prst="rect">
            <a:avLst/>
          </a:prstGeom>
          <a:noFill/>
          <a:ln/>
        </p:spPr>
        <p:txBody>
          <a:bodyPr wrap="square" lIns="0" tIns="0" rIns="0" bIns="0" rtlCol="0" anchor="ctr"/>
          <a:lstStyle/>
          <a:p>
            <a:pPr indent="0" marL="0">
              <a:buNone/>
            </a:pPr>
            <a:r>
              <a:rPr lang="en-US" sz="4800" i="1" dirty="0">
                <a:solidFill>
                  <a:srgbClr val="14B8A6"/>
                </a:solidFill>
                <a:latin typeface="Cambria" pitchFamily="34" charset="0"/>
                <a:ea typeface="Cambria" pitchFamily="34" charset="-122"/>
                <a:cs typeface="Cambria" pitchFamily="34" charset="-120"/>
              </a:rPr>
              <a:t>to organize?</a:t>
            </a:r>
            <a:endParaRPr lang="en-US" sz="4800" dirty="0"/>
          </a:p>
        </p:txBody>
      </p:sp>
      <p:sp>
        <p:nvSpPr>
          <p:cNvPr id="6" name="Shape 4"/>
          <p:cNvSpPr/>
          <p:nvPr/>
        </p:nvSpPr>
        <p:spPr>
          <a:xfrm>
            <a:off x="457200" y="3840480"/>
            <a:ext cx="8229600" cy="777240"/>
          </a:xfrm>
          <a:prstGeom prst="rect">
            <a:avLst/>
          </a:prstGeom>
          <a:solidFill>
            <a:srgbClr val="1E293B"/>
          </a:solidFill>
          <a:ln w="12700">
            <a:solidFill>
              <a:srgbClr val="0D9488"/>
            </a:solidFill>
            <a:prstDash val="solid"/>
          </a:ln>
        </p:spPr>
      </p:sp>
      <p:sp>
        <p:nvSpPr>
          <p:cNvPr id="7" name="Text 5"/>
          <p:cNvSpPr/>
          <p:nvPr/>
        </p:nvSpPr>
        <p:spPr>
          <a:xfrm>
            <a:off x="640080" y="3840480"/>
            <a:ext cx="7863840" cy="7772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Recreate </a:t>
            </a:r>
            <a:pPr indent="0" marL="0">
              <a:buNone/>
            </a:pPr>
            <a:r>
              <a:rPr lang="en-US" sz="1300" dirty="0">
                <a:solidFill>
                  <a:srgbClr val="14B8A6"/>
                </a:solidFill>
                <a:latin typeface="Consolas" pitchFamily="34" charset="0"/>
                <a:ea typeface="Consolas" pitchFamily="34" charset="-122"/>
                <a:cs typeface="Consolas" pitchFamily="34" charset="-120"/>
              </a:rPr>
              <a:t>AGENTS.md</a:t>
            </a:r>
            <a:pPr indent="0" marL="0">
              <a:buNone/>
            </a:pPr>
            <a:r>
              <a:rPr lang="en-US" sz="1300" dirty="0">
                <a:solidFill>
                  <a:srgbClr val="94A3B8"/>
                </a:solidFill>
                <a:latin typeface="Calibri" pitchFamily="34" charset="0"/>
                <a:ea typeface="Calibri" pitchFamily="34" charset="-122"/>
                <a:cs typeface="Calibri" pitchFamily="34" charset="-120"/>
              </a:rPr>
              <a:t> for it · paste in 5 sources you already have · notice what becomes queryable · notice what's missing.</a:t>
            </a:r>
            <a:endParaRPr lang="en-US" sz="1300" dirty="0"/>
          </a:p>
        </p:txBody>
      </p:sp>
      <p:sp>
        <p:nvSpPr>
          <p:cNvPr id="9" name="Shape 6"/>
          <p:cNvSpPr/>
          <p:nvPr/>
        </p:nvSpPr>
        <p:spPr>
          <a:xfrm>
            <a:off x="457200" y="4864608"/>
            <a:ext cx="91440" cy="91440"/>
          </a:xfrm>
          <a:prstGeom prst="rect">
            <a:avLst/>
          </a:prstGeom>
          <a:solidFill>
            <a:srgbClr val="0D9488"/>
          </a:solidFill>
          <a:ln w="12700">
            <a:solidFill>
              <a:srgbClr val="0D9488"/>
            </a:solidFill>
            <a:prstDash val="solid"/>
          </a:ln>
        </p:spPr>
      </p:sp>
      <p:sp>
        <p:nvSpPr>
          <p:cNvPr id="10" name="Text 7"/>
          <p:cNvSpPr/>
          <p:nvPr/>
        </p:nvSpPr>
        <p:spPr>
          <a:xfrm>
            <a:off x="621792" y="4818888"/>
            <a:ext cx="457200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Second Brain · Nanobot + Telegram</a:t>
            </a:r>
            <a:endParaRPr lang="en-US" sz="900" dirty="0"/>
          </a:p>
        </p:txBody>
      </p:sp>
      <p:sp>
        <p:nvSpPr>
          <p:cNvPr id="11" name="Text 8"/>
          <p:cNvSpPr/>
          <p:nvPr/>
        </p:nvSpPr>
        <p:spPr>
          <a:xfrm>
            <a:off x="8229600" y="4846320"/>
            <a:ext cx="822960" cy="228600"/>
          </a:xfrm>
          <a:prstGeom prst="rect">
            <a:avLst/>
          </a:prstGeom>
          <a:noFill/>
          <a:ln/>
        </p:spPr>
        <p:txBody>
          <a:bodyPr wrap="square" lIns="0" tIns="0" rIns="0" bIns="0" rtlCol="0" anchor="ctr"/>
          <a:lstStyle/>
          <a:p>
            <a:pPr algn="r" indent="0" marL="0">
              <a:buNone/>
            </a:pPr>
            <a:r>
              <a:rPr lang="en-US" sz="900" dirty="0">
                <a:solidFill>
                  <a:srgbClr val="94A3B8"/>
                </a:solidFill>
                <a:latin typeface="Calibri" pitchFamily="34" charset="0"/>
                <a:ea typeface="Calibri" pitchFamily="34" charset="-122"/>
                <a:cs typeface="Calibri" pitchFamily="34" charset="-120"/>
              </a:rPr>
              <a:t>25 / 25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Second Brain — Nanobot + Telegram</dc:title>
  <dc:subject>PptxGenJS Presentation</dc:subject>
  <dc:creator>Workshop</dc:creator>
  <cp:lastModifiedBy>Workshop</cp:lastModifiedBy>
  <cp:revision>1</cp:revision>
  <dcterms:created xsi:type="dcterms:W3CDTF">2026-05-24T11:15:20Z</dcterms:created>
  <dcterms:modified xsi:type="dcterms:W3CDTF">2026-05-24T11:15:20Z</dcterms:modified>
</cp:coreProperties>
</file>